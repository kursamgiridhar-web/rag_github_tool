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Akzidenz-Grotesk" panose="020B0604020202020204" charset="0"/>
      <p:regular r:id="rId10"/>
    </p:embeddedFont>
    <p:embeddedFont>
      <p:font typeface="Akzidenz-Grotesk Bold" panose="020B0604020202020204" charset="0"/>
      <p:regular r:id="rId11"/>
    </p:embeddedFont>
    <p:embeddedFont>
      <p:font typeface="IBM Plex Mono" panose="020B0509050203000203" pitchFamily="49" charset="0"/>
      <p:regular r:id="rId12"/>
    </p:embeddedFont>
    <p:embeddedFont>
      <p:font typeface="IBM Plex Mono Bold" panose="020B0809050203000203" charset="0"/>
      <p:regular r:id="rId13"/>
    </p:embeddedFont>
    <p:embeddedFont>
      <p:font typeface="Open Sans" panose="020B0606030504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300"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625FCB-9BDB-4474-8844-CA5029CCE25C}" type="datetimeFigureOut">
              <a:rPr lang="en-IN" smtClean="0"/>
              <a:t>25-10-2026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199831-2214-4BE0-8C5B-AF5FF7179EC7}" type="slidenum">
              <a:rPr lang="en-IN" smtClean="0"/>
              <a:t>‹#›</a:t>
            </a:fld>
            <a:endParaRPr lang="en-IN"/>
          </a:p>
        </p:txBody>
      </p:sp>
    </p:spTree>
    <p:extLst>
      <p:ext uri="{BB962C8B-B14F-4D97-AF65-F5344CB8AC3E}">
        <p14:creationId xmlns:p14="http://schemas.microsoft.com/office/powerpoint/2010/main" val="1314587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199831-2214-4BE0-8C5B-AF5FF7179EC7}" type="slidenum">
              <a:rPr lang="en-IN" smtClean="0"/>
              <a:t>2</a:t>
            </a:fld>
            <a:endParaRPr lang="en-IN"/>
          </a:p>
        </p:txBody>
      </p:sp>
    </p:spTree>
    <p:extLst>
      <p:ext uri="{BB962C8B-B14F-4D97-AF65-F5344CB8AC3E}">
        <p14:creationId xmlns:p14="http://schemas.microsoft.com/office/powerpoint/2010/main" val="3161648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199831-2214-4BE0-8C5B-AF5FF7179EC7}" type="slidenum">
              <a:rPr lang="en-IN" smtClean="0"/>
              <a:t>3</a:t>
            </a:fld>
            <a:endParaRPr lang="en-IN"/>
          </a:p>
        </p:txBody>
      </p:sp>
    </p:spTree>
    <p:extLst>
      <p:ext uri="{BB962C8B-B14F-4D97-AF65-F5344CB8AC3E}">
        <p14:creationId xmlns:p14="http://schemas.microsoft.com/office/powerpoint/2010/main" val="2555807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ursamgiridhar-web/rag_github_tool"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frontend-ashen-tau-34.vercel.ap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Freeform 2"/>
          <p:cNvSpPr/>
          <p:nvPr/>
        </p:nvSpPr>
        <p:spPr>
          <a:xfrm>
            <a:off x="685800" y="482721"/>
            <a:ext cx="16571657" cy="9321557"/>
          </a:xfrm>
          <a:custGeom>
            <a:avLst/>
            <a:gdLst/>
            <a:ahLst/>
            <a:cxnLst/>
            <a:rect l="l" t="t" r="r" b="b"/>
            <a:pathLst>
              <a:path w="16571657" h="9321557">
                <a:moveTo>
                  <a:pt x="0" y="0"/>
                </a:moveTo>
                <a:lnTo>
                  <a:pt x="16571658" y="0"/>
                </a:lnTo>
                <a:lnTo>
                  <a:pt x="16571658" y="9321558"/>
                </a:lnTo>
                <a:lnTo>
                  <a:pt x="0" y="9321558"/>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TextBox 2"/>
          <p:cNvSpPr txBox="1"/>
          <p:nvPr/>
        </p:nvSpPr>
        <p:spPr>
          <a:xfrm>
            <a:off x="4604832" y="384429"/>
            <a:ext cx="10477500" cy="1259967"/>
          </a:xfrm>
          <a:prstGeom prst="rect">
            <a:avLst/>
          </a:prstGeom>
        </p:spPr>
        <p:txBody>
          <a:bodyPr lIns="0" tIns="0" rIns="0" bIns="0" rtlCol="0" anchor="t">
            <a:spAutoFit/>
          </a:bodyPr>
          <a:lstStyle/>
          <a:p>
            <a:pPr algn="l">
              <a:lnSpc>
                <a:spcPts val="4524"/>
              </a:lnSpc>
            </a:pPr>
            <a:r>
              <a:rPr lang="en-US" sz="4350" b="1">
                <a:solidFill>
                  <a:srgbClr val="F5F8FF"/>
                </a:solidFill>
                <a:latin typeface="Akzidenz-Grotesk Bold"/>
                <a:ea typeface="Akzidenz-Grotesk Bold"/>
                <a:cs typeface="Akzidenz-Grotesk Bold"/>
                <a:sym typeface="Akzidenz-Grotesk Bold"/>
              </a:rPr>
              <a:t>FROM GITHUB CODE TO</a:t>
            </a:r>
          </a:p>
          <a:p>
            <a:pPr algn="l">
              <a:lnSpc>
                <a:spcPts val="4524"/>
              </a:lnSpc>
            </a:pPr>
            <a:r>
              <a:rPr lang="en-US" sz="4350" b="1">
                <a:solidFill>
                  <a:srgbClr val="F5F8FF"/>
                </a:solidFill>
                <a:latin typeface="Akzidenz-Grotesk Bold"/>
                <a:ea typeface="Akzidenz-Grotesk Bold"/>
                <a:cs typeface="Akzidenz-Grotesk Bold"/>
                <a:sym typeface="Akzidenz-Grotesk Bold"/>
              </a:rPr>
              <a:t>INTELLIGENT ANSWERS</a:t>
            </a:r>
          </a:p>
        </p:txBody>
      </p:sp>
      <p:sp>
        <p:nvSpPr>
          <p:cNvPr id="3" name="TextBox 3"/>
          <p:cNvSpPr txBox="1"/>
          <p:nvPr/>
        </p:nvSpPr>
        <p:spPr>
          <a:xfrm>
            <a:off x="666750" y="4019550"/>
            <a:ext cx="4762500" cy="232410"/>
          </a:xfrm>
          <a:prstGeom prst="rect">
            <a:avLst/>
          </a:prstGeom>
        </p:spPr>
        <p:txBody>
          <a:bodyPr lIns="0" tIns="0" rIns="0" bIns="0" rtlCol="0" anchor="t">
            <a:spAutoFit/>
          </a:bodyPr>
          <a:lstStyle/>
          <a:p>
            <a:pPr algn="l">
              <a:lnSpc>
                <a:spcPts val="1889"/>
              </a:lnSpc>
            </a:pPr>
            <a:r>
              <a:rPr lang="en-US" sz="1350" b="1" spc="108">
                <a:solidFill>
                  <a:srgbClr val="9B6CFF"/>
                </a:solidFill>
                <a:latin typeface="IBM Plex Mono Bold"/>
                <a:ea typeface="IBM Plex Mono Bold"/>
                <a:cs typeface="IBM Plex Mono Bold"/>
                <a:sym typeface="IBM Plex Mono Bold"/>
              </a:rPr>
              <a:t>REPOSITORY INGESTION</a:t>
            </a:r>
          </a:p>
        </p:txBody>
      </p:sp>
      <p:sp>
        <p:nvSpPr>
          <p:cNvPr id="4" name="TextBox 4"/>
          <p:cNvSpPr txBox="1"/>
          <p:nvPr/>
        </p:nvSpPr>
        <p:spPr>
          <a:xfrm>
            <a:off x="9334500" y="4019550"/>
            <a:ext cx="4762500" cy="232410"/>
          </a:xfrm>
          <a:prstGeom prst="rect">
            <a:avLst/>
          </a:prstGeom>
        </p:spPr>
        <p:txBody>
          <a:bodyPr lIns="0" tIns="0" rIns="0" bIns="0" rtlCol="0" anchor="t">
            <a:spAutoFit/>
          </a:bodyPr>
          <a:lstStyle/>
          <a:p>
            <a:pPr algn="l">
              <a:lnSpc>
                <a:spcPts val="1889"/>
              </a:lnSpc>
            </a:pPr>
            <a:r>
              <a:rPr lang="en-US" sz="1350" b="1" spc="108">
                <a:solidFill>
                  <a:srgbClr val="20D8EE"/>
                </a:solidFill>
                <a:latin typeface="IBM Plex Mono Bold"/>
                <a:ea typeface="IBM Plex Mono Bold"/>
                <a:cs typeface="IBM Plex Mono Bold"/>
                <a:sym typeface="IBM Plex Mono Bold"/>
              </a:rPr>
              <a:t>QUESTION ANSWERING</a:t>
            </a:r>
          </a:p>
        </p:txBody>
      </p:sp>
      <p:grpSp>
        <p:nvGrpSpPr>
          <p:cNvPr id="5" name="Group 5"/>
          <p:cNvGrpSpPr/>
          <p:nvPr/>
        </p:nvGrpSpPr>
        <p:grpSpPr>
          <a:xfrm>
            <a:off x="476250" y="4524375"/>
            <a:ext cx="1714500" cy="2857500"/>
            <a:chOff x="0" y="0"/>
            <a:chExt cx="2286000" cy="3810000"/>
          </a:xfrm>
        </p:grpSpPr>
        <p:sp>
          <p:nvSpPr>
            <p:cNvPr id="6" name="Freeform 6"/>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35215E"/>
            </a:solidFill>
            <a:ln cap="sq">
              <a:noFill/>
              <a:prstDash val="solid"/>
              <a:miter/>
            </a:ln>
          </p:spPr>
        </p:sp>
        <p:sp>
          <p:nvSpPr>
            <p:cNvPr id="7" name="TextBox 7"/>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1  GITHUB REPOSITORY</a:t>
              </a:r>
            </a:p>
            <a:p>
              <a:pPr algn="ctr">
                <a:lnSpc>
                  <a:spcPts val="1836"/>
                </a:lnSpc>
              </a:pPr>
              <a:r>
                <a:rPr lang="en-US" sz="1700" b="1">
                  <a:solidFill>
                    <a:srgbClr val="F5F8FF"/>
                  </a:solidFill>
                  <a:latin typeface="Akzidenz-Grotesk Bold"/>
                  <a:ea typeface="Akzidenz-Grotesk Bold"/>
                  <a:cs typeface="Akzidenz-Grotesk Bold"/>
                  <a:sym typeface="Akzidenz-Grotesk Bold"/>
                </a:rPr>
                <a:t>Fetch files</a:t>
              </a:r>
            </a:p>
          </p:txBody>
        </p:sp>
      </p:grpSp>
      <p:grpSp>
        <p:nvGrpSpPr>
          <p:cNvPr id="8" name="Group 8"/>
          <p:cNvGrpSpPr/>
          <p:nvPr/>
        </p:nvGrpSpPr>
        <p:grpSpPr>
          <a:xfrm>
            <a:off x="2428875" y="4524375"/>
            <a:ext cx="1714500" cy="2857500"/>
            <a:chOff x="0" y="0"/>
            <a:chExt cx="2286000" cy="3810000"/>
          </a:xfrm>
        </p:grpSpPr>
        <p:sp>
          <p:nvSpPr>
            <p:cNvPr id="9" name="Freeform 9"/>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35215E"/>
            </a:solidFill>
            <a:ln cap="sq">
              <a:noFill/>
              <a:prstDash val="solid"/>
              <a:miter/>
            </a:ln>
          </p:spPr>
        </p:sp>
        <p:sp>
          <p:nvSpPr>
            <p:cNvPr id="10" name="TextBox 10"/>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2  PROCESS + CHUNK</a:t>
              </a:r>
            </a:p>
            <a:p>
              <a:pPr algn="ctr">
                <a:lnSpc>
                  <a:spcPts val="1836"/>
                </a:lnSpc>
              </a:pPr>
              <a:r>
                <a:rPr lang="en-US" sz="1700" b="1">
                  <a:solidFill>
                    <a:srgbClr val="F5F8FF"/>
                  </a:solidFill>
                  <a:latin typeface="Akzidenz-Grotesk Bold"/>
                  <a:ea typeface="Akzidenz-Grotesk Bold"/>
                  <a:cs typeface="Akzidenz-Grotesk Bold"/>
                  <a:sym typeface="Akzidenz-Grotesk Bold"/>
                </a:rPr>
                <a:t>Code + metadata</a:t>
              </a:r>
            </a:p>
          </p:txBody>
        </p:sp>
      </p:grpSp>
      <p:grpSp>
        <p:nvGrpSpPr>
          <p:cNvPr id="11" name="Group 11"/>
          <p:cNvGrpSpPr/>
          <p:nvPr/>
        </p:nvGrpSpPr>
        <p:grpSpPr>
          <a:xfrm>
            <a:off x="4381500" y="4524375"/>
            <a:ext cx="1714500" cy="2857500"/>
            <a:chOff x="0" y="0"/>
            <a:chExt cx="2286000" cy="3810000"/>
          </a:xfrm>
        </p:grpSpPr>
        <p:sp>
          <p:nvSpPr>
            <p:cNvPr id="12" name="Freeform 12"/>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35215E"/>
            </a:solidFill>
            <a:ln cap="sq">
              <a:noFill/>
              <a:prstDash val="solid"/>
              <a:miter/>
            </a:ln>
          </p:spPr>
        </p:sp>
        <p:sp>
          <p:nvSpPr>
            <p:cNvPr id="13" name="TextBox 13"/>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3  EMBEDDINGS</a:t>
              </a:r>
            </a:p>
            <a:p>
              <a:pPr algn="ctr">
                <a:lnSpc>
                  <a:spcPts val="1836"/>
                </a:lnSpc>
              </a:pPr>
              <a:r>
                <a:rPr lang="en-US" sz="1700" b="1">
                  <a:solidFill>
                    <a:srgbClr val="F5F8FF"/>
                  </a:solidFill>
                  <a:latin typeface="Akzidenz-Grotesk Bold"/>
                  <a:ea typeface="Akzidenz-Grotesk Bold"/>
                  <a:cs typeface="Akzidenz-Grotesk Bold"/>
                  <a:sym typeface="Akzidenz-Grotesk Bold"/>
                </a:rPr>
                <a:t>Gemini vectors</a:t>
              </a:r>
            </a:p>
          </p:txBody>
        </p:sp>
      </p:grpSp>
      <p:grpSp>
        <p:nvGrpSpPr>
          <p:cNvPr id="14" name="Group 14"/>
          <p:cNvGrpSpPr/>
          <p:nvPr/>
        </p:nvGrpSpPr>
        <p:grpSpPr>
          <a:xfrm>
            <a:off x="6334125" y="4524375"/>
            <a:ext cx="1714500" cy="2857500"/>
            <a:chOff x="0" y="0"/>
            <a:chExt cx="2286000" cy="3810000"/>
          </a:xfrm>
        </p:grpSpPr>
        <p:sp>
          <p:nvSpPr>
            <p:cNvPr id="15" name="Freeform 15"/>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75235"/>
            </a:solidFill>
            <a:ln cap="sq">
              <a:noFill/>
              <a:prstDash val="solid"/>
              <a:miter/>
            </a:ln>
          </p:spPr>
        </p:sp>
        <p:sp>
          <p:nvSpPr>
            <p:cNvPr id="16" name="TextBox 16"/>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4  MONGODB ATLAS</a:t>
              </a:r>
            </a:p>
            <a:p>
              <a:pPr algn="ctr">
                <a:lnSpc>
                  <a:spcPts val="1836"/>
                </a:lnSpc>
              </a:pPr>
              <a:r>
                <a:rPr lang="en-US" sz="1700" b="1">
                  <a:solidFill>
                    <a:srgbClr val="F5F8FF"/>
                  </a:solidFill>
                  <a:latin typeface="Akzidenz-Grotesk Bold"/>
                  <a:ea typeface="Akzidenz-Grotesk Bold"/>
                  <a:cs typeface="Akzidenz-Grotesk Bold"/>
                  <a:sym typeface="Akzidenz-Grotesk Bold"/>
                </a:rPr>
                <a:t>Store evidence</a:t>
              </a:r>
            </a:p>
          </p:txBody>
        </p:sp>
      </p:grpSp>
      <p:grpSp>
        <p:nvGrpSpPr>
          <p:cNvPr id="17" name="Group 17"/>
          <p:cNvGrpSpPr/>
          <p:nvPr/>
        </p:nvGrpSpPr>
        <p:grpSpPr>
          <a:xfrm>
            <a:off x="8286750" y="4524375"/>
            <a:ext cx="1714500" cy="2857500"/>
            <a:chOff x="0" y="0"/>
            <a:chExt cx="2286000" cy="3810000"/>
          </a:xfrm>
        </p:grpSpPr>
        <p:sp>
          <p:nvSpPr>
            <p:cNvPr id="18" name="Freeform 18"/>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23A5C"/>
            </a:solidFill>
            <a:ln cap="sq">
              <a:noFill/>
              <a:prstDash val="solid"/>
              <a:miter/>
            </a:ln>
          </p:spPr>
        </p:sp>
        <p:sp>
          <p:nvSpPr>
            <p:cNvPr id="19" name="TextBox 19"/>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5  USER QUESTION</a:t>
              </a:r>
            </a:p>
            <a:p>
              <a:pPr algn="ctr">
                <a:lnSpc>
                  <a:spcPts val="1836"/>
                </a:lnSpc>
              </a:pPr>
              <a:r>
                <a:rPr lang="en-US" sz="1700" b="1">
                  <a:solidFill>
                    <a:srgbClr val="F5F8FF"/>
                  </a:solidFill>
                  <a:latin typeface="Akzidenz-Grotesk Bold"/>
                  <a:ea typeface="Akzidenz-Grotesk Bold"/>
                  <a:cs typeface="Akzidenz-Grotesk Bold"/>
                  <a:sym typeface="Akzidenz-Grotesk Bold"/>
                </a:rPr>
                <a:t>Natural language</a:t>
              </a:r>
            </a:p>
          </p:txBody>
        </p:sp>
      </p:grpSp>
      <p:grpSp>
        <p:nvGrpSpPr>
          <p:cNvPr id="20" name="Group 20"/>
          <p:cNvGrpSpPr/>
          <p:nvPr/>
        </p:nvGrpSpPr>
        <p:grpSpPr>
          <a:xfrm>
            <a:off x="10239375" y="4524375"/>
            <a:ext cx="1714500" cy="2857500"/>
            <a:chOff x="0" y="0"/>
            <a:chExt cx="2286000" cy="3810000"/>
          </a:xfrm>
        </p:grpSpPr>
        <p:sp>
          <p:nvSpPr>
            <p:cNvPr id="21" name="Freeform 21"/>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23A5C"/>
            </a:solidFill>
            <a:ln cap="sq">
              <a:noFill/>
              <a:prstDash val="solid"/>
              <a:miter/>
            </a:ln>
          </p:spPr>
        </p:sp>
        <p:sp>
          <p:nvSpPr>
            <p:cNvPr id="22" name="TextBox 22"/>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6  RETRIEVAL</a:t>
              </a:r>
            </a:p>
            <a:p>
              <a:pPr algn="ctr">
                <a:lnSpc>
                  <a:spcPts val="1836"/>
                </a:lnSpc>
              </a:pPr>
              <a:r>
                <a:rPr lang="en-US" sz="1700" b="1">
                  <a:solidFill>
                    <a:srgbClr val="F5F8FF"/>
                  </a:solidFill>
                  <a:latin typeface="Akzidenz-Grotesk Bold"/>
                  <a:ea typeface="Akzidenz-Grotesk Bold"/>
                  <a:cs typeface="Akzidenz-Grotesk Bold"/>
                  <a:sym typeface="Akzidenz-Grotesk Bold"/>
                </a:rPr>
                <a:t>Vector + keyword</a:t>
              </a:r>
            </a:p>
          </p:txBody>
        </p:sp>
      </p:grpSp>
      <p:grpSp>
        <p:nvGrpSpPr>
          <p:cNvPr id="23" name="Group 23"/>
          <p:cNvGrpSpPr/>
          <p:nvPr/>
        </p:nvGrpSpPr>
        <p:grpSpPr>
          <a:xfrm>
            <a:off x="12192000" y="4524375"/>
            <a:ext cx="1714500" cy="2857500"/>
            <a:chOff x="0" y="0"/>
            <a:chExt cx="2286000" cy="3810000"/>
          </a:xfrm>
        </p:grpSpPr>
        <p:sp>
          <p:nvSpPr>
            <p:cNvPr id="24" name="Freeform 24"/>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23A5C"/>
            </a:solidFill>
            <a:ln cap="sq">
              <a:noFill/>
              <a:prstDash val="solid"/>
              <a:miter/>
            </a:ln>
          </p:spPr>
        </p:sp>
        <p:sp>
          <p:nvSpPr>
            <p:cNvPr id="25" name="TextBox 25"/>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7  RESULT FUSION</a:t>
              </a:r>
            </a:p>
            <a:p>
              <a:pPr algn="ctr">
                <a:lnSpc>
                  <a:spcPts val="1836"/>
                </a:lnSpc>
              </a:pPr>
              <a:r>
                <a:rPr lang="en-US" sz="1700" b="1">
                  <a:solidFill>
                    <a:srgbClr val="F5F8FF"/>
                  </a:solidFill>
                  <a:latin typeface="Akzidenz-Grotesk Bold"/>
                  <a:ea typeface="Akzidenz-Grotesk Bold"/>
                  <a:cs typeface="Akzidenz-Grotesk Bold"/>
                  <a:sym typeface="Akzidenz-Grotesk Bold"/>
                </a:rPr>
                <a:t>RRF rankings</a:t>
              </a:r>
            </a:p>
          </p:txBody>
        </p:sp>
      </p:grpSp>
      <p:grpSp>
        <p:nvGrpSpPr>
          <p:cNvPr id="26" name="Group 26"/>
          <p:cNvGrpSpPr/>
          <p:nvPr/>
        </p:nvGrpSpPr>
        <p:grpSpPr>
          <a:xfrm>
            <a:off x="14144625" y="4524375"/>
            <a:ext cx="1714500" cy="2857500"/>
            <a:chOff x="0" y="0"/>
            <a:chExt cx="2286000" cy="3810000"/>
          </a:xfrm>
        </p:grpSpPr>
        <p:sp>
          <p:nvSpPr>
            <p:cNvPr id="27" name="Freeform 27"/>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23A5C"/>
            </a:solidFill>
            <a:ln cap="sq">
              <a:noFill/>
              <a:prstDash val="solid"/>
              <a:miter/>
            </a:ln>
          </p:spPr>
        </p:sp>
        <p:sp>
          <p:nvSpPr>
            <p:cNvPr id="28" name="TextBox 28"/>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8  GEMINI ANSWER</a:t>
              </a:r>
            </a:p>
            <a:p>
              <a:pPr algn="ctr">
                <a:lnSpc>
                  <a:spcPts val="1836"/>
                </a:lnSpc>
              </a:pPr>
              <a:r>
                <a:rPr lang="en-US" sz="1700" b="1">
                  <a:solidFill>
                    <a:srgbClr val="F5F8FF"/>
                  </a:solidFill>
                  <a:latin typeface="Akzidenz-Grotesk Bold"/>
                  <a:ea typeface="Akzidenz-Grotesk Bold"/>
                  <a:cs typeface="Akzidenz-Grotesk Bold"/>
                  <a:sym typeface="Akzidenz-Grotesk Bold"/>
                </a:rPr>
                <a:t>Grounded explanation</a:t>
              </a:r>
            </a:p>
          </p:txBody>
        </p:sp>
      </p:grpSp>
      <p:grpSp>
        <p:nvGrpSpPr>
          <p:cNvPr id="29" name="Group 29"/>
          <p:cNvGrpSpPr/>
          <p:nvPr/>
        </p:nvGrpSpPr>
        <p:grpSpPr>
          <a:xfrm>
            <a:off x="16097250" y="4524375"/>
            <a:ext cx="1714500" cy="2857500"/>
            <a:chOff x="0" y="0"/>
            <a:chExt cx="2286000" cy="3810000"/>
          </a:xfrm>
        </p:grpSpPr>
        <p:sp>
          <p:nvSpPr>
            <p:cNvPr id="30" name="Freeform 30"/>
            <p:cNvSpPr/>
            <p:nvPr/>
          </p:nvSpPr>
          <p:spPr>
            <a:xfrm>
              <a:off x="0" y="0"/>
              <a:ext cx="2286000" cy="3810000"/>
            </a:xfrm>
            <a:custGeom>
              <a:avLst/>
              <a:gdLst/>
              <a:ahLst/>
              <a:cxnLst/>
              <a:rect l="l" t="t" r="r" b="b"/>
              <a:pathLst>
                <a:path w="2286000" h="3810000">
                  <a:moveTo>
                    <a:pt x="127000" y="0"/>
                  </a:moveTo>
                  <a:lnTo>
                    <a:pt x="2159000" y="0"/>
                  </a:lnTo>
                  <a:cubicBezTo>
                    <a:pt x="2229140" y="0"/>
                    <a:pt x="2286000" y="56860"/>
                    <a:pt x="2286000" y="127000"/>
                  </a:cubicBezTo>
                  <a:lnTo>
                    <a:pt x="2286000" y="3683000"/>
                  </a:lnTo>
                  <a:cubicBezTo>
                    <a:pt x="2286000" y="3753140"/>
                    <a:pt x="2229140" y="3810000"/>
                    <a:pt x="2159000" y="3810000"/>
                  </a:cubicBezTo>
                  <a:lnTo>
                    <a:pt x="127000" y="3810000"/>
                  </a:lnTo>
                  <a:cubicBezTo>
                    <a:pt x="56860" y="3810000"/>
                    <a:pt x="0" y="3753140"/>
                    <a:pt x="0" y="3683000"/>
                  </a:cubicBezTo>
                  <a:lnTo>
                    <a:pt x="0" y="127000"/>
                  </a:lnTo>
                  <a:cubicBezTo>
                    <a:pt x="0" y="56860"/>
                    <a:pt x="56860" y="0"/>
                    <a:pt x="127000" y="0"/>
                  </a:cubicBezTo>
                  <a:close/>
                </a:path>
              </a:pathLst>
            </a:custGeom>
            <a:solidFill>
              <a:srgbClr val="17475A"/>
            </a:solidFill>
            <a:ln cap="sq">
              <a:noFill/>
              <a:prstDash val="solid"/>
              <a:miter/>
            </a:ln>
          </p:spPr>
        </p:sp>
        <p:sp>
          <p:nvSpPr>
            <p:cNvPr id="31" name="TextBox 31"/>
            <p:cNvSpPr txBox="1"/>
            <p:nvPr/>
          </p:nvSpPr>
          <p:spPr>
            <a:xfrm>
              <a:off x="0" y="-19050"/>
              <a:ext cx="2286000" cy="3829050"/>
            </a:xfrm>
            <a:prstGeom prst="rect">
              <a:avLst/>
            </a:prstGeom>
          </p:spPr>
          <p:txBody>
            <a:bodyPr lIns="50800" tIns="50800" rIns="50800" bIns="50800" rtlCol="0" anchor="ctr"/>
            <a:lstStyle/>
            <a:p>
              <a:pPr algn="ctr">
                <a:lnSpc>
                  <a:spcPts val="1836"/>
                </a:lnSpc>
              </a:pPr>
              <a:r>
                <a:rPr lang="en-US" sz="1700" b="1">
                  <a:solidFill>
                    <a:srgbClr val="F5F8FF"/>
                  </a:solidFill>
                  <a:latin typeface="Akzidenz-Grotesk Bold"/>
                  <a:ea typeface="Akzidenz-Grotesk Bold"/>
                  <a:cs typeface="Akzidenz-Grotesk Bold"/>
                  <a:sym typeface="Akzidenz-Grotesk Bold"/>
                </a:rPr>
                <a:t>9  CITATIONS</a:t>
              </a:r>
            </a:p>
            <a:p>
              <a:pPr algn="ctr">
                <a:lnSpc>
                  <a:spcPts val="1836"/>
                </a:lnSpc>
              </a:pPr>
              <a:r>
                <a:rPr lang="en-US" sz="1700" b="1">
                  <a:solidFill>
                    <a:srgbClr val="F5F8FF"/>
                  </a:solidFill>
                  <a:latin typeface="Akzidenz-Grotesk Bold"/>
                  <a:ea typeface="Akzidenz-Grotesk Bold"/>
                  <a:cs typeface="Akzidenz-Grotesk Bold"/>
                  <a:sym typeface="Akzidenz-Grotesk Bold"/>
                </a:rPr>
                <a:t>Files + lines</a:t>
              </a:r>
            </a:p>
          </p:txBody>
        </p:sp>
      </p:grpSp>
      <p:sp>
        <p:nvSpPr>
          <p:cNvPr id="32" name="TextBox 32"/>
          <p:cNvSpPr txBox="1"/>
          <p:nvPr/>
        </p:nvSpPr>
        <p:spPr>
          <a:xfrm>
            <a:off x="666750" y="8848725"/>
            <a:ext cx="11906250" cy="882293"/>
          </a:xfrm>
          <a:prstGeom prst="rect">
            <a:avLst/>
          </a:prstGeom>
        </p:spPr>
        <p:txBody>
          <a:bodyPr wrap="square" lIns="0" tIns="0" rIns="0" bIns="0" rtlCol="0" anchor="t">
            <a:spAutoFit/>
          </a:bodyPr>
          <a:lstStyle/>
          <a:p>
            <a:pPr>
              <a:lnSpc>
                <a:spcPts val="1964"/>
              </a:lnSpc>
              <a:spcBef>
                <a:spcPct val="0"/>
              </a:spcBef>
            </a:pPr>
            <a:r>
              <a:rPr lang="en-US" sz="2400" b="1" dirty="0">
                <a:solidFill>
                  <a:srgbClr val="FFFFFF"/>
                </a:solidFill>
                <a:latin typeface="Akzidenz-Grotesk Bold"/>
                <a:ea typeface="Akzidenz-Grotesk Bold"/>
                <a:cs typeface="Akzidenz-Grotesk Bold"/>
                <a:sym typeface="Akzidenz-Grotesk Bold"/>
              </a:rPr>
              <a:t>GITHUB REPO LINK: </a:t>
            </a:r>
            <a:r>
              <a:rPr lang="en-US" sz="2400" b="1" dirty="0">
                <a:solidFill>
                  <a:srgbClr val="FFFFFF"/>
                </a:solidFill>
                <a:latin typeface="Akzidenz-Grotesk Bold"/>
                <a:ea typeface="Akzidenz-Grotesk Bold"/>
                <a:cs typeface="Akzidenz-Grotesk Bold"/>
                <a:sym typeface="Akzidenz-Grotesk Bold"/>
                <a:hlinkClick r:id="rId3"/>
              </a:rPr>
              <a:t>https://github.com/kursamgiridhar-web/rag_github_tool</a:t>
            </a:r>
            <a:endParaRPr lang="en-US" sz="2400" b="1" dirty="0">
              <a:solidFill>
                <a:srgbClr val="FFFFFF"/>
              </a:solidFill>
              <a:latin typeface="Akzidenz-Grotesk Bold"/>
              <a:ea typeface="Akzidenz-Grotesk Bold"/>
              <a:cs typeface="Akzidenz-Grotesk Bold"/>
              <a:sym typeface="Akzidenz-Grotesk Bold"/>
            </a:endParaRPr>
          </a:p>
          <a:p>
            <a:pPr algn="ctr">
              <a:lnSpc>
                <a:spcPts val="1964"/>
              </a:lnSpc>
              <a:spcBef>
                <a:spcPct val="0"/>
              </a:spcBef>
            </a:pPr>
            <a:endParaRPr lang="en-US" sz="2400" b="1" dirty="0">
              <a:solidFill>
                <a:srgbClr val="FFFFFF"/>
              </a:solidFill>
              <a:latin typeface="Akzidenz-Grotesk Bold"/>
              <a:ea typeface="Akzidenz-Grotesk Bold"/>
              <a:cs typeface="Akzidenz-Grotesk Bold"/>
              <a:sym typeface="Akzidenz-Grotesk Bold"/>
            </a:endParaRPr>
          </a:p>
          <a:p>
            <a:pPr>
              <a:lnSpc>
                <a:spcPct val="100000"/>
              </a:lnSpc>
              <a:spcBef>
                <a:spcPct val="0"/>
              </a:spcBef>
            </a:pPr>
            <a:r>
              <a:rPr lang="en-US" sz="2400" b="1" dirty="0">
                <a:solidFill>
                  <a:srgbClr val="FFFFFF"/>
                </a:solidFill>
                <a:latin typeface="Akzidenz-Grotesk Bold"/>
                <a:ea typeface="Akzidenz-Grotesk Bold"/>
                <a:cs typeface="Akzidenz-Grotesk Bold"/>
                <a:sym typeface="Akzidenz-Grotesk Bold"/>
              </a:rPr>
              <a:t>DEPLOYED WEBSITE LINK: </a:t>
            </a:r>
            <a:r>
              <a:rPr lang="en-IN" dirty="0">
                <a:solidFill>
                  <a:schemeClr val="bg1"/>
                </a:solidFill>
                <a:hlinkClick r:id="rId4">
                  <a:extLst>
                    <a:ext uri="{A12FA001-AC4F-418D-AE19-62706E023703}">
                      <ahyp:hlinkClr xmlns:ahyp="http://schemas.microsoft.com/office/drawing/2018/hyperlinkcolor" val="tx"/>
                    </a:ext>
                  </a:extLst>
                </a:hlinkClick>
              </a:rPr>
              <a:t>https://frontend-ashen-tau-34.vercel.app</a:t>
            </a:r>
            <a:endParaRPr lang="en-US" sz="2400" b="1" dirty="0">
              <a:solidFill>
                <a:schemeClr val="bg1"/>
              </a:solidFill>
              <a:latin typeface="Akzidenz-Grotesk Bold"/>
              <a:ea typeface="Akzidenz-Grotesk Bold"/>
              <a:cs typeface="Akzidenz-Grotesk Bold"/>
              <a:sym typeface="Akzidenz-Grotesk Bold"/>
            </a:endParaRPr>
          </a:p>
        </p:txBody>
      </p:sp>
      <p:grpSp>
        <p:nvGrpSpPr>
          <p:cNvPr id="33" name="Group 33"/>
          <p:cNvGrpSpPr/>
          <p:nvPr/>
        </p:nvGrpSpPr>
        <p:grpSpPr>
          <a:xfrm>
            <a:off x="666750" y="1809750"/>
            <a:ext cx="5334000" cy="1809750"/>
            <a:chOff x="0" y="0"/>
            <a:chExt cx="7112000" cy="2413000"/>
          </a:xfrm>
        </p:grpSpPr>
        <p:sp>
          <p:nvSpPr>
            <p:cNvPr id="34" name="Freeform 34"/>
            <p:cNvSpPr/>
            <p:nvPr/>
          </p:nvSpPr>
          <p:spPr>
            <a:xfrm>
              <a:off x="0" y="0"/>
              <a:ext cx="7112000" cy="2413000"/>
            </a:xfrm>
            <a:custGeom>
              <a:avLst/>
              <a:gdLst/>
              <a:ahLst/>
              <a:cxnLst/>
              <a:rect l="l" t="t" r="r" b="b"/>
              <a:pathLst>
                <a:path w="7112000" h="2413000">
                  <a:moveTo>
                    <a:pt x="181429" y="0"/>
                  </a:moveTo>
                  <a:lnTo>
                    <a:pt x="6930572" y="0"/>
                  </a:lnTo>
                  <a:cubicBezTo>
                    <a:pt x="7030772" y="0"/>
                    <a:pt x="7112000" y="81228"/>
                    <a:pt x="7112000" y="181429"/>
                  </a:cubicBezTo>
                  <a:lnTo>
                    <a:pt x="7112000" y="2231571"/>
                  </a:lnTo>
                  <a:cubicBezTo>
                    <a:pt x="7112000" y="2331772"/>
                    <a:pt x="7030772" y="2413000"/>
                    <a:pt x="6930572" y="2413000"/>
                  </a:cubicBezTo>
                  <a:lnTo>
                    <a:pt x="181429" y="2413000"/>
                  </a:lnTo>
                  <a:cubicBezTo>
                    <a:pt x="81228" y="2413000"/>
                    <a:pt x="0" y="2331772"/>
                    <a:pt x="0" y="2231571"/>
                  </a:cubicBezTo>
                  <a:lnTo>
                    <a:pt x="0" y="181429"/>
                  </a:lnTo>
                  <a:cubicBezTo>
                    <a:pt x="0" y="81228"/>
                    <a:pt x="81228" y="0"/>
                    <a:pt x="181429" y="0"/>
                  </a:cubicBezTo>
                  <a:close/>
                </a:path>
              </a:pathLst>
            </a:custGeom>
            <a:solidFill>
              <a:srgbClr val="35215E"/>
            </a:solidFill>
            <a:ln w="19050" cap="sq">
              <a:solidFill>
                <a:srgbClr val="9B6CFF"/>
              </a:solidFill>
              <a:prstDash val="solid"/>
              <a:miter/>
            </a:ln>
          </p:spPr>
        </p:sp>
        <p:sp>
          <p:nvSpPr>
            <p:cNvPr id="35" name="TextBox 35"/>
            <p:cNvSpPr txBox="1"/>
            <p:nvPr/>
          </p:nvSpPr>
          <p:spPr>
            <a:xfrm>
              <a:off x="0" y="-19050"/>
              <a:ext cx="7112000" cy="2432050"/>
            </a:xfrm>
            <a:prstGeom prst="rect">
              <a:avLst/>
            </a:prstGeom>
          </p:spPr>
          <p:txBody>
            <a:bodyPr lIns="228600" tIns="228600" rIns="228600" bIns="228600" rtlCol="0" anchor="ctr"/>
            <a:lstStyle/>
            <a:p>
              <a:pPr algn="l">
                <a:lnSpc>
                  <a:spcPts val="1568"/>
                </a:lnSpc>
              </a:pPr>
              <a:r>
                <a:rPr lang="en-US" sz="1400" b="1" dirty="0">
                  <a:solidFill>
                    <a:srgbClr val="F5F8FF"/>
                  </a:solidFill>
                  <a:latin typeface="Akzidenz-Grotesk Bold"/>
                  <a:ea typeface="Akzidenz-Grotesk Bold"/>
                  <a:cs typeface="Akzidenz-Grotesk Bold"/>
                  <a:sym typeface="Akzidenz-Grotesk Bold"/>
                </a:rPr>
                <a:t>PROBLEM</a:t>
              </a:r>
            </a:p>
            <a:p>
              <a:pPr algn="l">
                <a:lnSpc>
                  <a:spcPts val="1568"/>
                </a:lnSpc>
              </a:pPr>
              <a:r>
                <a:rPr lang="en-US" sz="1400" b="1" dirty="0">
                  <a:solidFill>
                    <a:srgbClr val="F5F8FF"/>
                  </a:solidFill>
                  <a:latin typeface="Akzidenz-Grotesk Bold"/>
                  <a:ea typeface="Akzidenz-Grotesk Bold"/>
                  <a:cs typeface="Akzidenz-Grotesk Bold"/>
                  <a:sym typeface="Akzidenz-Grotesk Bold"/>
                </a:rPr>
                <a:t>Developers struggle to understand unfamiliar repositories because code and logic are scattered across multiple files.</a:t>
              </a:r>
            </a:p>
          </p:txBody>
        </p:sp>
      </p:grpSp>
      <p:grpSp>
        <p:nvGrpSpPr>
          <p:cNvPr id="36" name="Group 36"/>
          <p:cNvGrpSpPr/>
          <p:nvPr/>
        </p:nvGrpSpPr>
        <p:grpSpPr>
          <a:xfrm>
            <a:off x="6477000" y="1809750"/>
            <a:ext cx="5334000" cy="1809750"/>
            <a:chOff x="0" y="0"/>
            <a:chExt cx="7112000" cy="2413000"/>
          </a:xfrm>
        </p:grpSpPr>
        <p:sp>
          <p:nvSpPr>
            <p:cNvPr id="37" name="Freeform 37"/>
            <p:cNvSpPr/>
            <p:nvPr/>
          </p:nvSpPr>
          <p:spPr>
            <a:xfrm>
              <a:off x="0" y="0"/>
              <a:ext cx="7112000" cy="2413000"/>
            </a:xfrm>
            <a:custGeom>
              <a:avLst/>
              <a:gdLst/>
              <a:ahLst/>
              <a:cxnLst/>
              <a:rect l="l" t="t" r="r" b="b"/>
              <a:pathLst>
                <a:path w="7112000" h="2413000">
                  <a:moveTo>
                    <a:pt x="181429" y="0"/>
                  </a:moveTo>
                  <a:lnTo>
                    <a:pt x="6930572" y="0"/>
                  </a:lnTo>
                  <a:cubicBezTo>
                    <a:pt x="7030772" y="0"/>
                    <a:pt x="7112000" y="81228"/>
                    <a:pt x="7112000" y="181429"/>
                  </a:cubicBezTo>
                  <a:lnTo>
                    <a:pt x="7112000" y="2231571"/>
                  </a:lnTo>
                  <a:cubicBezTo>
                    <a:pt x="7112000" y="2331772"/>
                    <a:pt x="7030772" y="2413000"/>
                    <a:pt x="6930572" y="2413000"/>
                  </a:cubicBezTo>
                  <a:lnTo>
                    <a:pt x="181429" y="2413000"/>
                  </a:lnTo>
                  <a:cubicBezTo>
                    <a:pt x="81228" y="2413000"/>
                    <a:pt x="0" y="2331772"/>
                    <a:pt x="0" y="2231571"/>
                  </a:cubicBezTo>
                  <a:lnTo>
                    <a:pt x="0" y="181429"/>
                  </a:lnTo>
                  <a:cubicBezTo>
                    <a:pt x="0" y="81228"/>
                    <a:pt x="81228" y="0"/>
                    <a:pt x="181429" y="0"/>
                  </a:cubicBezTo>
                  <a:close/>
                </a:path>
              </a:pathLst>
            </a:custGeom>
            <a:solidFill>
              <a:srgbClr val="123A5C"/>
            </a:solidFill>
            <a:ln w="19050" cap="sq">
              <a:solidFill>
                <a:srgbClr val="20D8EE"/>
              </a:solidFill>
              <a:prstDash val="solid"/>
              <a:miter/>
            </a:ln>
          </p:spPr>
        </p:sp>
        <p:sp>
          <p:nvSpPr>
            <p:cNvPr id="38" name="TextBox 38"/>
            <p:cNvSpPr txBox="1"/>
            <p:nvPr/>
          </p:nvSpPr>
          <p:spPr>
            <a:xfrm>
              <a:off x="0" y="-19050"/>
              <a:ext cx="7112000" cy="2432050"/>
            </a:xfrm>
            <a:prstGeom prst="rect">
              <a:avLst/>
            </a:prstGeom>
          </p:spPr>
          <p:txBody>
            <a:bodyPr lIns="228600" tIns="228600" rIns="228600" bIns="228600" rtlCol="0" anchor="ctr"/>
            <a:lstStyle/>
            <a:p>
              <a:pPr algn="l">
                <a:lnSpc>
                  <a:spcPts val="1568"/>
                </a:lnSpc>
              </a:pPr>
              <a:r>
                <a:rPr lang="en-US" sz="1400" b="1">
                  <a:solidFill>
                    <a:srgbClr val="F5F8FF"/>
                  </a:solidFill>
                  <a:latin typeface="Akzidenz-Grotesk Bold"/>
                  <a:ea typeface="Akzidenz-Grotesk Bold"/>
                  <a:cs typeface="Akzidenz-Grotesk Bold"/>
                  <a:sym typeface="Akzidenz-Grotesk Bold"/>
                </a:rPr>
                <a:t>SOLUTION</a:t>
              </a:r>
            </a:p>
            <a:p>
              <a:pPr algn="l">
                <a:lnSpc>
                  <a:spcPts val="1568"/>
                </a:lnSpc>
              </a:pPr>
              <a:r>
                <a:rPr lang="en-US" sz="1400" b="1">
                  <a:solidFill>
                    <a:srgbClr val="F5F8FF"/>
                  </a:solidFill>
                  <a:latin typeface="Akzidenz-Grotesk Bold"/>
                  <a:ea typeface="Akzidenz-Grotesk Bold"/>
                  <a:cs typeface="Akzidenz-Grotesk Bold"/>
                  <a:sym typeface="Akzidenz-Grotesk Bold"/>
                </a:rPr>
                <a:t>Repo Investigator uses AI-powered RAG to understand repositories, answer cross-file questions, and provide exact code citations.</a:t>
              </a:r>
            </a:p>
          </p:txBody>
        </p:sp>
      </p:grpSp>
      <p:grpSp>
        <p:nvGrpSpPr>
          <p:cNvPr id="39" name="Group 39"/>
          <p:cNvGrpSpPr/>
          <p:nvPr/>
        </p:nvGrpSpPr>
        <p:grpSpPr>
          <a:xfrm>
            <a:off x="12287250" y="1809750"/>
            <a:ext cx="5334000" cy="1809750"/>
            <a:chOff x="0" y="0"/>
            <a:chExt cx="7112000" cy="2413000"/>
          </a:xfrm>
        </p:grpSpPr>
        <p:sp>
          <p:nvSpPr>
            <p:cNvPr id="40" name="Freeform 40"/>
            <p:cNvSpPr/>
            <p:nvPr/>
          </p:nvSpPr>
          <p:spPr>
            <a:xfrm>
              <a:off x="0" y="0"/>
              <a:ext cx="7112000" cy="2413000"/>
            </a:xfrm>
            <a:custGeom>
              <a:avLst/>
              <a:gdLst/>
              <a:ahLst/>
              <a:cxnLst/>
              <a:rect l="l" t="t" r="r" b="b"/>
              <a:pathLst>
                <a:path w="7112000" h="2413000">
                  <a:moveTo>
                    <a:pt x="181429" y="0"/>
                  </a:moveTo>
                  <a:lnTo>
                    <a:pt x="6930572" y="0"/>
                  </a:lnTo>
                  <a:cubicBezTo>
                    <a:pt x="7030772" y="0"/>
                    <a:pt x="7112000" y="81228"/>
                    <a:pt x="7112000" y="181429"/>
                  </a:cubicBezTo>
                  <a:lnTo>
                    <a:pt x="7112000" y="2231571"/>
                  </a:lnTo>
                  <a:cubicBezTo>
                    <a:pt x="7112000" y="2331772"/>
                    <a:pt x="7030772" y="2413000"/>
                    <a:pt x="6930572" y="2413000"/>
                  </a:cubicBezTo>
                  <a:lnTo>
                    <a:pt x="181429" y="2413000"/>
                  </a:lnTo>
                  <a:cubicBezTo>
                    <a:pt x="81228" y="2413000"/>
                    <a:pt x="0" y="2331772"/>
                    <a:pt x="0" y="2231571"/>
                  </a:cubicBezTo>
                  <a:lnTo>
                    <a:pt x="0" y="181429"/>
                  </a:lnTo>
                  <a:cubicBezTo>
                    <a:pt x="0" y="81228"/>
                    <a:pt x="81228" y="0"/>
                    <a:pt x="181429" y="0"/>
                  </a:cubicBezTo>
                  <a:close/>
                </a:path>
              </a:pathLst>
            </a:custGeom>
            <a:solidFill>
              <a:srgbClr val="175235"/>
            </a:solidFill>
            <a:ln w="19050" cap="sq">
              <a:solidFill>
                <a:srgbClr val="39D98A"/>
              </a:solidFill>
              <a:prstDash val="solid"/>
              <a:miter/>
            </a:ln>
          </p:spPr>
        </p:sp>
        <p:sp>
          <p:nvSpPr>
            <p:cNvPr id="41" name="TextBox 41"/>
            <p:cNvSpPr txBox="1"/>
            <p:nvPr/>
          </p:nvSpPr>
          <p:spPr>
            <a:xfrm>
              <a:off x="0" y="-19050"/>
              <a:ext cx="7112000" cy="2432050"/>
            </a:xfrm>
            <a:prstGeom prst="rect">
              <a:avLst/>
            </a:prstGeom>
          </p:spPr>
          <p:txBody>
            <a:bodyPr lIns="228600" tIns="228600" rIns="228600" bIns="228600" rtlCol="0" anchor="ctr"/>
            <a:lstStyle/>
            <a:p>
              <a:pPr algn="l">
                <a:lnSpc>
                  <a:spcPts val="1568"/>
                </a:lnSpc>
              </a:pPr>
              <a:r>
                <a:rPr lang="en-US" sz="1400" b="1">
                  <a:solidFill>
                    <a:srgbClr val="F5F8FF"/>
                  </a:solidFill>
                  <a:latin typeface="Akzidenz-Grotesk Bold"/>
                  <a:ea typeface="Akzidenz-Grotesk Bold"/>
                  <a:cs typeface="Akzidenz-Grotesk Bold"/>
                  <a:sym typeface="Akzidenz-Grotesk Bold"/>
                </a:rPr>
                <a:t>WHY MONGODB ATLAS</a:t>
              </a:r>
            </a:p>
            <a:p>
              <a:pPr algn="l">
                <a:lnSpc>
                  <a:spcPts val="1568"/>
                </a:lnSpc>
              </a:pPr>
              <a:r>
                <a:rPr lang="en-US" sz="1400" b="1">
                  <a:solidFill>
                    <a:srgbClr val="F5F8FF"/>
                  </a:solidFill>
                  <a:latin typeface="Akzidenz-Grotesk Bold"/>
                  <a:ea typeface="Akzidenz-Grotesk Bold"/>
                  <a:cs typeface="Akzidenz-Grotesk Bold"/>
                  <a:sym typeface="Akzidenz-Grotesk Bold"/>
                </a:rPr>
                <a:t>Stores code chunks, embeddings, and metadata together, enabling hybrid retrieval and evidence-based answers.</a:t>
              </a:r>
            </a:p>
          </p:txBody>
        </p:sp>
      </p:grpSp>
      <p:sp>
        <p:nvSpPr>
          <p:cNvPr id="42" name="AutoShape 42"/>
          <p:cNvSpPr/>
          <p:nvPr/>
        </p:nvSpPr>
        <p:spPr>
          <a:xfrm>
            <a:off x="2190750" y="5953125"/>
            <a:ext cx="238125" cy="0"/>
          </a:xfrm>
          <a:prstGeom prst="line">
            <a:avLst/>
          </a:prstGeom>
          <a:ln w="28575" cap="flat">
            <a:solidFill>
              <a:srgbClr val="9B6CFF"/>
            </a:solidFill>
            <a:prstDash val="solid"/>
            <a:headEnd type="none" w="sm" len="sm"/>
            <a:tailEnd type="arrow" w="med" len="sm"/>
          </a:ln>
        </p:spPr>
      </p:sp>
      <p:sp>
        <p:nvSpPr>
          <p:cNvPr id="43" name="AutoShape 43"/>
          <p:cNvSpPr/>
          <p:nvPr/>
        </p:nvSpPr>
        <p:spPr>
          <a:xfrm>
            <a:off x="4143375" y="5953125"/>
            <a:ext cx="238125" cy="0"/>
          </a:xfrm>
          <a:prstGeom prst="line">
            <a:avLst/>
          </a:prstGeom>
          <a:ln w="28575" cap="flat">
            <a:solidFill>
              <a:srgbClr val="9B6CFF"/>
            </a:solidFill>
            <a:prstDash val="solid"/>
            <a:headEnd type="none" w="sm" len="sm"/>
            <a:tailEnd type="arrow" w="med" len="sm"/>
          </a:ln>
        </p:spPr>
      </p:sp>
      <p:sp>
        <p:nvSpPr>
          <p:cNvPr id="44" name="AutoShape 44"/>
          <p:cNvSpPr/>
          <p:nvPr/>
        </p:nvSpPr>
        <p:spPr>
          <a:xfrm>
            <a:off x="6096000" y="5953125"/>
            <a:ext cx="238125" cy="0"/>
          </a:xfrm>
          <a:prstGeom prst="line">
            <a:avLst/>
          </a:prstGeom>
          <a:ln w="28575" cap="flat">
            <a:solidFill>
              <a:srgbClr val="9B6CFF"/>
            </a:solidFill>
            <a:prstDash val="solid"/>
            <a:headEnd type="none" w="sm" len="sm"/>
            <a:tailEnd type="arrow" w="med" len="sm"/>
          </a:ln>
        </p:spPr>
      </p:sp>
      <p:sp>
        <p:nvSpPr>
          <p:cNvPr id="45" name="AutoShape 45"/>
          <p:cNvSpPr/>
          <p:nvPr/>
        </p:nvSpPr>
        <p:spPr>
          <a:xfrm>
            <a:off x="8048625" y="5953125"/>
            <a:ext cx="238125" cy="0"/>
          </a:xfrm>
          <a:prstGeom prst="line">
            <a:avLst/>
          </a:prstGeom>
          <a:ln w="28575" cap="flat">
            <a:solidFill>
              <a:srgbClr val="20D8EE"/>
            </a:solidFill>
            <a:prstDash val="solid"/>
            <a:headEnd type="none" w="sm" len="sm"/>
            <a:tailEnd type="arrow" w="med" len="sm"/>
          </a:ln>
        </p:spPr>
      </p:sp>
      <p:sp>
        <p:nvSpPr>
          <p:cNvPr id="46" name="AutoShape 46"/>
          <p:cNvSpPr/>
          <p:nvPr/>
        </p:nvSpPr>
        <p:spPr>
          <a:xfrm>
            <a:off x="10001250" y="5953125"/>
            <a:ext cx="238125" cy="0"/>
          </a:xfrm>
          <a:prstGeom prst="line">
            <a:avLst/>
          </a:prstGeom>
          <a:ln w="28575" cap="flat">
            <a:solidFill>
              <a:srgbClr val="20D8EE"/>
            </a:solidFill>
            <a:prstDash val="solid"/>
            <a:headEnd type="none" w="sm" len="sm"/>
            <a:tailEnd type="arrow" w="med" len="sm"/>
          </a:ln>
        </p:spPr>
      </p:sp>
      <p:sp>
        <p:nvSpPr>
          <p:cNvPr id="47" name="AutoShape 47"/>
          <p:cNvSpPr/>
          <p:nvPr/>
        </p:nvSpPr>
        <p:spPr>
          <a:xfrm>
            <a:off x="11953875" y="5953125"/>
            <a:ext cx="238125" cy="0"/>
          </a:xfrm>
          <a:prstGeom prst="line">
            <a:avLst/>
          </a:prstGeom>
          <a:ln w="28575" cap="flat">
            <a:solidFill>
              <a:srgbClr val="20D8EE"/>
            </a:solidFill>
            <a:prstDash val="solid"/>
            <a:headEnd type="none" w="sm" len="sm"/>
            <a:tailEnd type="arrow" w="med" len="sm"/>
          </a:ln>
        </p:spPr>
      </p:sp>
      <p:sp>
        <p:nvSpPr>
          <p:cNvPr id="48" name="AutoShape 48"/>
          <p:cNvSpPr/>
          <p:nvPr/>
        </p:nvSpPr>
        <p:spPr>
          <a:xfrm>
            <a:off x="13906500" y="5953125"/>
            <a:ext cx="238125" cy="0"/>
          </a:xfrm>
          <a:prstGeom prst="line">
            <a:avLst/>
          </a:prstGeom>
          <a:ln w="28575" cap="flat">
            <a:solidFill>
              <a:srgbClr val="20D8EE"/>
            </a:solidFill>
            <a:prstDash val="solid"/>
            <a:headEnd type="none" w="sm" len="sm"/>
            <a:tailEnd type="arrow" w="med" len="sm"/>
          </a:ln>
        </p:spPr>
      </p:sp>
      <p:sp>
        <p:nvSpPr>
          <p:cNvPr id="49" name="AutoShape 49"/>
          <p:cNvSpPr/>
          <p:nvPr/>
        </p:nvSpPr>
        <p:spPr>
          <a:xfrm>
            <a:off x="15859125" y="5953125"/>
            <a:ext cx="238125" cy="0"/>
          </a:xfrm>
          <a:prstGeom prst="line">
            <a:avLst/>
          </a:prstGeom>
          <a:ln w="28575" cap="flat">
            <a:solidFill>
              <a:srgbClr val="39D98A"/>
            </a:solidFill>
            <a:prstDash val="solid"/>
            <a:headEnd type="none" w="sm" len="sm"/>
            <a:tailEnd type="arrow" w="med"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TextBox 2"/>
          <p:cNvSpPr txBox="1"/>
          <p:nvPr/>
        </p:nvSpPr>
        <p:spPr>
          <a:xfrm>
            <a:off x="876300" y="285750"/>
            <a:ext cx="8572500" cy="1109980"/>
          </a:xfrm>
          <a:prstGeom prst="rect">
            <a:avLst/>
          </a:prstGeom>
        </p:spPr>
        <p:txBody>
          <a:bodyPr lIns="0" tIns="0" rIns="0" bIns="0" rtlCol="0" anchor="t">
            <a:spAutoFit/>
          </a:bodyPr>
          <a:lstStyle/>
          <a:p>
            <a:pPr algn="l">
              <a:lnSpc>
                <a:spcPts val="8119"/>
              </a:lnSpc>
            </a:pPr>
            <a:r>
              <a:rPr lang="en-US" sz="5799" b="1">
                <a:solidFill>
                  <a:srgbClr val="F5F8FF"/>
                </a:solidFill>
                <a:latin typeface="Akzidenz-Grotesk Bold"/>
                <a:ea typeface="Akzidenz-Grotesk Bold"/>
                <a:cs typeface="Akzidenz-Grotesk Bold"/>
                <a:sym typeface="Akzidenz-Grotesk Bold"/>
              </a:rPr>
              <a:t>DEMO FLOW</a:t>
            </a:r>
          </a:p>
        </p:txBody>
      </p:sp>
      <p:sp>
        <p:nvSpPr>
          <p:cNvPr id="3" name="TextBox 3"/>
          <p:cNvSpPr txBox="1"/>
          <p:nvPr/>
        </p:nvSpPr>
        <p:spPr>
          <a:xfrm>
            <a:off x="914400" y="1295400"/>
            <a:ext cx="8763000" cy="420370"/>
          </a:xfrm>
          <a:prstGeom prst="rect">
            <a:avLst/>
          </a:prstGeom>
        </p:spPr>
        <p:txBody>
          <a:bodyPr lIns="0" tIns="0" rIns="0" bIns="0" rtlCol="0" anchor="t">
            <a:spAutoFit/>
          </a:bodyPr>
          <a:lstStyle/>
          <a:p>
            <a:pPr algn="l">
              <a:lnSpc>
                <a:spcPts val="3079"/>
              </a:lnSpc>
            </a:pPr>
            <a:r>
              <a:rPr lang="en-US" sz="2199">
                <a:solidFill>
                  <a:srgbClr val="9EB0C9"/>
                </a:solidFill>
                <a:latin typeface="Akzidenz-Grotesk"/>
                <a:ea typeface="Akzidenz-Grotesk"/>
                <a:cs typeface="Akzidenz-Grotesk"/>
                <a:sym typeface="Akzidenz-Grotesk"/>
              </a:rPr>
              <a:t>From repository import to evidence-backed answers</a:t>
            </a:r>
          </a:p>
        </p:txBody>
      </p:sp>
      <p:grpSp>
        <p:nvGrpSpPr>
          <p:cNvPr id="4" name="Group 4"/>
          <p:cNvGrpSpPr/>
          <p:nvPr/>
        </p:nvGrpSpPr>
        <p:grpSpPr>
          <a:xfrm>
            <a:off x="876300" y="2207487"/>
            <a:ext cx="7810500" cy="977176"/>
            <a:chOff x="0" y="0"/>
            <a:chExt cx="10414000" cy="1302902"/>
          </a:xfrm>
        </p:grpSpPr>
        <p:sp>
          <p:nvSpPr>
            <p:cNvPr id="5" name="Freeform 5"/>
            <p:cNvSpPr/>
            <p:nvPr/>
          </p:nvSpPr>
          <p:spPr>
            <a:xfrm>
              <a:off x="0" y="0"/>
              <a:ext cx="10414000" cy="1302902"/>
            </a:xfrm>
            <a:custGeom>
              <a:avLst/>
              <a:gdLst/>
              <a:ahLst/>
              <a:cxnLst/>
              <a:rect l="l" t="t" r="r" b="b"/>
              <a:pathLst>
                <a:path w="10414000" h="1302902">
                  <a:moveTo>
                    <a:pt x="203200" y="0"/>
                  </a:moveTo>
                  <a:lnTo>
                    <a:pt x="10210800" y="0"/>
                  </a:lnTo>
                  <a:cubicBezTo>
                    <a:pt x="10323024" y="0"/>
                    <a:pt x="10414000" y="90976"/>
                    <a:pt x="10414000" y="203200"/>
                  </a:cubicBezTo>
                  <a:lnTo>
                    <a:pt x="10414000" y="1099702"/>
                  </a:lnTo>
                  <a:cubicBezTo>
                    <a:pt x="10414000" y="1211926"/>
                    <a:pt x="10323024" y="1302902"/>
                    <a:pt x="10210800" y="1302902"/>
                  </a:cubicBezTo>
                  <a:lnTo>
                    <a:pt x="203200" y="1302902"/>
                  </a:lnTo>
                  <a:cubicBezTo>
                    <a:pt x="149308" y="1302902"/>
                    <a:pt x="97623" y="1281493"/>
                    <a:pt x="59516" y="1243386"/>
                  </a:cubicBezTo>
                  <a:cubicBezTo>
                    <a:pt x="21409" y="1205278"/>
                    <a:pt x="0" y="1153594"/>
                    <a:pt x="0" y="1099702"/>
                  </a:cubicBezTo>
                  <a:lnTo>
                    <a:pt x="0" y="203200"/>
                  </a:lnTo>
                  <a:cubicBezTo>
                    <a:pt x="0" y="90976"/>
                    <a:pt x="90976" y="0"/>
                    <a:pt x="203200" y="0"/>
                  </a:cubicBezTo>
                  <a:close/>
                </a:path>
              </a:pathLst>
            </a:custGeom>
            <a:solidFill>
              <a:srgbClr val="123A5C"/>
            </a:solidFill>
            <a:ln w="19050" cap="sq">
              <a:solidFill>
                <a:srgbClr val="20D8EE"/>
              </a:solidFill>
              <a:prstDash val="solid"/>
              <a:miter/>
            </a:ln>
          </p:spPr>
        </p:sp>
        <p:sp>
          <p:nvSpPr>
            <p:cNvPr id="6" name="TextBox 6"/>
            <p:cNvSpPr txBox="1"/>
            <p:nvPr/>
          </p:nvSpPr>
          <p:spPr>
            <a:xfrm>
              <a:off x="0" y="-28575"/>
              <a:ext cx="10414000" cy="1331477"/>
            </a:xfrm>
            <a:prstGeom prst="rect">
              <a:avLst/>
            </a:prstGeom>
          </p:spPr>
          <p:txBody>
            <a:bodyPr lIns="254000" tIns="254000" rIns="254000" bIns="254000" rtlCol="0" anchor="ctr"/>
            <a:lstStyle/>
            <a:p>
              <a:pPr algn="l">
                <a:lnSpc>
                  <a:spcPts val="1904"/>
                </a:lnSpc>
              </a:pPr>
              <a:r>
                <a:rPr lang="en-US" sz="1700" b="1">
                  <a:solidFill>
                    <a:srgbClr val="F5F8FF"/>
                  </a:solidFill>
                  <a:latin typeface="Akzidenz-Grotesk Bold"/>
                  <a:ea typeface="Akzidenz-Grotesk Bold"/>
                  <a:cs typeface="Akzidenz-Grotesk Bold"/>
                  <a:sym typeface="Akzidenz-Grotesk Bold"/>
                </a:rPr>
                <a:t>01   IMPORT REPOSITORY</a:t>
              </a:r>
            </a:p>
            <a:p>
              <a:pPr algn="l">
                <a:lnSpc>
                  <a:spcPts val="1904"/>
                </a:lnSpc>
              </a:pPr>
              <a:r>
                <a:rPr lang="en-US" sz="1700" b="1">
                  <a:solidFill>
                    <a:srgbClr val="F5F8FF"/>
                  </a:solidFill>
                  <a:latin typeface="Akzidenz-Grotesk Bold"/>
                  <a:ea typeface="Akzidenz-Grotesk Bold"/>
                  <a:cs typeface="Akzidenz-Grotesk Bold"/>
                  <a:sym typeface="Akzidenz-Grotesk Bold"/>
                </a:rPr>
                <a:t>Import a GitHub repository.</a:t>
              </a:r>
            </a:p>
          </p:txBody>
        </p:sp>
      </p:grpSp>
      <p:sp>
        <p:nvSpPr>
          <p:cNvPr id="7" name="AutoShape 7"/>
          <p:cNvSpPr/>
          <p:nvPr/>
        </p:nvSpPr>
        <p:spPr>
          <a:xfrm>
            <a:off x="4572000" y="3314700"/>
            <a:ext cx="0" cy="171450"/>
          </a:xfrm>
          <a:prstGeom prst="line">
            <a:avLst/>
          </a:prstGeom>
          <a:ln w="28575" cap="flat">
            <a:solidFill>
              <a:srgbClr val="20D8EE"/>
            </a:solidFill>
            <a:prstDash val="solid"/>
            <a:headEnd type="none" w="sm" len="sm"/>
            <a:tailEnd type="arrow" w="med" len="sm"/>
          </a:ln>
        </p:spPr>
      </p:sp>
      <p:grpSp>
        <p:nvGrpSpPr>
          <p:cNvPr id="8" name="Group 8"/>
          <p:cNvGrpSpPr/>
          <p:nvPr/>
        </p:nvGrpSpPr>
        <p:grpSpPr>
          <a:xfrm>
            <a:off x="914400" y="3600450"/>
            <a:ext cx="7810500" cy="977176"/>
            <a:chOff x="0" y="0"/>
            <a:chExt cx="10414000" cy="1302902"/>
          </a:xfrm>
        </p:grpSpPr>
        <p:sp>
          <p:nvSpPr>
            <p:cNvPr id="9" name="Freeform 9"/>
            <p:cNvSpPr/>
            <p:nvPr/>
          </p:nvSpPr>
          <p:spPr>
            <a:xfrm>
              <a:off x="0" y="0"/>
              <a:ext cx="10414000" cy="1302902"/>
            </a:xfrm>
            <a:custGeom>
              <a:avLst/>
              <a:gdLst/>
              <a:ahLst/>
              <a:cxnLst/>
              <a:rect l="l" t="t" r="r" b="b"/>
              <a:pathLst>
                <a:path w="10414000" h="1302902">
                  <a:moveTo>
                    <a:pt x="203200" y="0"/>
                  </a:moveTo>
                  <a:lnTo>
                    <a:pt x="10210800" y="0"/>
                  </a:lnTo>
                  <a:cubicBezTo>
                    <a:pt x="10323024" y="0"/>
                    <a:pt x="10414000" y="90976"/>
                    <a:pt x="10414000" y="203200"/>
                  </a:cubicBezTo>
                  <a:lnTo>
                    <a:pt x="10414000" y="1099702"/>
                  </a:lnTo>
                  <a:cubicBezTo>
                    <a:pt x="10414000" y="1211926"/>
                    <a:pt x="10323024" y="1302902"/>
                    <a:pt x="10210800" y="1302902"/>
                  </a:cubicBezTo>
                  <a:lnTo>
                    <a:pt x="203200" y="1302902"/>
                  </a:lnTo>
                  <a:cubicBezTo>
                    <a:pt x="149308" y="1302902"/>
                    <a:pt x="97623" y="1281493"/>
                    <a:pt x="59516" y="1243386"/>
                  </a:cubicBezTo>
                  <a:cubicBezTo>
                    <a:pt x="21409" y="1205278"/>
                    <a:pt x="0" y="1153594"/>
                    <a:pt x="0" y="1099702"/>
                  </a:cubicBezTo>
                  <a:lnTo>
                    <a:pt x="0" y="203200"/>
                  </a:lnTo>
                  <a:cubicBezTo>
                    <a:pt x="0" y="90976"/>
                    <a:pt x="90976" y="0"/>
                    <a:pt x="203200" y="0"/>
                  </a:cubicBezTo>
                  <a:close/>
                </a:path>
              </a:pathLst>
            </a:custGeom>
            <a:solidFill>
              <a:srgbClr val="123A5C"/>
            </a:solidFill>
            <a:ln w="19050" cap="sq">
              <a:solidFill>
                <a:srgbClr val="20D8EE"/>
              </a:solidFill>
              <a:prstDash val="solid"/>
              <a:miter/>
            </a:ln>
          </p:spPr>
        </p:sp>
        <p:sp>
          <p:nvSpPr>
            <p:cNvPr id="10" name="TextBox 10"/>
            <p:cNvSpPr txBox="1"/>
            <p:nvPr/>
          </p:nvSpPr>
          <p:spPr>
            <a:xfrm>
              <a:off x="0" y="-28575"/>
              <a:ext cx="10414000" cy="1331477"/>
            </a:xfrm>
            <a:prstGeom prst="rect">
              <a:avLst/>
            </a:prstGeom>
          </p:spPr>
          <p:txBody>
            <a:bodyPr lIns="254000" tIns="254000" rIns="254000" bIns="254000" rtlCol="0" anchor="ctr"/>
            <a:lstStyle/>
            <a:p>
              <a:pPr algn="l">
                <a:lnSpc>
                  <a:spcPts val="1904"/>
                </a:lnSpc>
              </a:pPr>
              <a:r>
                <a:rPr lang="en-US" sz="1700" b="1">
                  <a:solidFill>
                    <a:srgbClr val="F5F8FF"/>
                  </a:solidFill>
                  <a:latin typeface="Akzidenz-Grotesk Bold"/>
                  <a:ea typeface="Akzidenz-Grotesk Bold"/>
                  <a:cs typeface="Akzidenz-Grotesk Bold"/>
                  <a:sym typeface="Akzidenz-Grotesk Bold"/>
                </a:rPr>
                <a:t>02   INDEX THE CODE</a:t>
              </a:r>
            </a:p>
            <a:p>
              <a:pPr algn="l">
                <a:lnSpc>
                  <a:spcPts val="1904"/>
                </a:lnSpc>
              </a:pPr>
              <a:r>
                <a:rPr lang="en-US" sz="1700" b="1">
                  <a:solidFill>
                    <a:srgbClr val="F5F8FF"/>
                  </a:solidFill>
                  <a:latin typeface="Akzidenz-Grotesk Bold"/>
                  <a:ea typeface="Akzidenz-Grotesk Bold"/>
                  <a:cs typeface="Akzidenz-Grotesk Bold"/>
                  <a:sym typeface="Akzidenz-Grotesk Bold"/>
                </a:rPr>
                <a:t>Chunk files, generate embeddings, and store them in MongoDB Atlas.</a:t>
              </a:r>
            </a:p>
          </p:txBody>
        </p:sp>
      </p:grpSp>
      <p:sp>
        <p:nvSpPr>
          <p:cNvPr id="11" name="AutoShape 11"/>
          <p:cNvSpPr/>
          <p:nvPr/>
        </p:nvSpPr>
        <p:spPr>
          <a:xfrm>
            <a:off x="4572000" y="4591050"/>
            <a:ext cx="0" cy="171450"/>
          </a:xfrm>
          <a:prstGeom prst="line">
            <a:avLst/>
          </a:prstGeom>
          <a:ln w="28575" cap="flat">
            <a:solidFill>
              <a:srgbClr val="20D8EE"/>
            </a:solidFill>
            <a:prstDash val="solid"/>
            <a:headEnd type="none" w="sm" len="sm"/>
            <a:tailEnd type="arrow" w="med" len="sm"/>
          </a:ln>
        </p:spPr>
      </p:sp>
      <p:grpSp>
        <p:nvGrpSpPr>
          <p:cNvPr id="12" name="Group 12"/>
          <p:cNvGrpSpPr/>
          <p:nvPr/>
        </p:nvGrpSpPr>
        <p:grpSpPr>
          <a:xfrm>
            <a:off x="914400" y="4775924"/>
            <a:ext cx="7810500" cy="977176"/>
            <a:chOff x="0" y="0"/>
            <a:chExt cx="10414000" cy="1302902"/>
          </a:xfrm>
        </p:grpSpPr>
        <p:sp>
          <p:nvSpPr>
            <p:cNvPr id="13" name="Freeform 13"/>
            <p:cNvSpPr/>
            <p:nvPr/>
          </p:nvSpPr>
          <p:spPr>
            <a:xfrm>
              <a:off x="0" y="0"/>
              <a:ext cx="10414000" cy="1302902"/>
            </a:xfrm>
            <a:custGeom>
              <a:avLst/>
              <a:gdLst/>
              <a:ahLst/>
              <a:cxnLst/>
              <a:rect l="l" t="t" r="r" b="b"/>
              <a:pathLst>
                <a:path w="10414000" h="1302902">
                  <a:moveTo>
                    <a:pt x="203200" y="0"/>
                  </a:moveTo>
                  <a:lnTo>
                    <a:pt x="10210800" y="0"/>
                  </a:lnTo>
                  <a:cubicBezTo>
                    <a:pt x="10323024" y="0"/>
                    <a:pt x="10414000" y="90976"/>
                    <a:pt x="10414000" y="203200"/>
                  </a:cubicBezTo>
                  <a:lnTo>
                    <a:pt x="10414000" y="1099702"/>
                  </a:lnTo>
                  <a:cubicBezTo>
                    <a:pt x="10414000" y="1211926"/>
                    <a:pt x="10323024" y="1302902"/>
                    <a:pt x="10210800" y="1302902"/>
                  </a:cubicBezTo>
                  <a:lnTo>
                    <a:pt x="203200" y="1302902"/>
                  </a:lnTo>
                  <a:cubicBezTo>
                    <a:pt x="149308" y="1302902"/>
                    <a:pt x="97623" y="1281493"/>
                    <a:pt x="59516" y="1243386"/>
                  </a:cubicBezTo>
                  <a:cubicBezTo>
                    <a:pt x="21409" y="1205278"/>
                    <a:pt x="0" y="1153594"/>
                    <a:pt x="0" y="1099702"/>
                  </a:cubicBezTo>
                  <a:lnTo>
                    <a:pt x="0" y="203200"/>
                  </a:lnTo>
                  <a:cubicBezTo>
                    <a:pt x="0" y="90976"/>
                    <a:pt x="90976" y="0"/>
                    <a:pt x="203200" y="0"/>
                  </a:cubicBezTo>
                  <a:close/>
                </a:path>
              </a:pathLst>
            </a:custGeom>
            <a:solidFill>
              <a:srgbClr val="123A5C"/>
            </a:solidFill>
            <a:ln w="19050" cap="sq">
              <a:solidFill>
                <a:srgbClr val="20D8EE"/>
              </a:solidFill>
              <a:prstDash val="solid"/>
              <a:miter/>
            </a:ln>
          </p:spPr>
        </p:sp>
        <p:sp>
          <p:nvSpPr>
            <p:cNvPr id="14" name="TextBox 14"/>
            <p:cNvSpPr txBox="1"/>
            <p:nvPr/>
          </p:nvSpPr>
          <p:spPr>
            <a:xfrm>
              <a:off x="0" y="-28575"/>
              <a:ext cx="10414000" cy="1331477"/>
            </a:xfrm>
            <a:prstGeom prst="rect">
              <a:avLst/>
            </a:prstGeom>
          </p:spPr>
          <p:txBody>
            <a:bodyPr lIns="254000" tIns="254000" rIns="254000" bIns="254000" rtlCol="0" anchor="ctr"/>
            <a:lstStyle/>
            <a:p>
              <a:pPr algn="l">
                <a:lnSpc>
                  <a:spcPts val="1904"/>
                </a:lnSpc>
              </a:pPr>
              <a:r>
                <a:rPr lang="en-US" sz="1700" b="1" dirty="0">
                  <a:solidFill>
                    <a:srgbClr val="F5F8FF"/>
                  </a:solidFill>
                  <a:latin typeface="Akzidenz-Grotesk Bold"/>
                  <a:ea typeface="Akzidenz-Grotesk Bold"/>
                  <a:cs typeface="Akzidenz-Grotesk Bold"/>
                  <a:sym typeface="Akzidenz-Grotesk Bold"/>
                </a:rPr>
                <a:t>03   ASK A CROSS-FILE QUESTION</a:t>
              </a:r>
            </a:p>
            <a:p>
              <a:pPr algn="l">
                <a:lnSpc>
                  <a:spcPts val="1904"/>
                </a:lnSpc>
              </a:pPr>
              <a:r>
                <a:rPr lang="en-US" sz="1700" b="1" dirty="0">
                  <a:solidFill>
                    <a:srgbClr val="F5F8FF"/>
                  </a:solidFill>
                  <a:latin typeface="Akzidenz-Grotesk Bold"/>
                  <a:ea typeface="Akzidenz-Grotesk Bold"/>
                  <a:cs typeface="Akzidenz-Grotesk Bold"/>
                  <a:sym typeface="Akzidenz-Grotesk Bold"/>
                </a:rPr>
                <a:t>Ask a question that requires understanding across multiple files.</a:t>
              </a:r>
            </a:p>
          </p:txBody>
        </p:sp>
      </p:grpSp>
      <p:sp>
        <p:nvSpPr>
          <p:cNvPr id="15" name="AutoShape 15"/>
          <p:cNvSpPr/>
          <p:nvPr/>
        </p:nvSpPr>
        <p:spPr>
          <a:xfrm>
            <a:off x="4572000" y="5886450"/>
            <a:ext cx="0" cy="171450"/>
          </a:xfrm>
          <a:prstGeom prst="line">
            <a:avLst/>
          </a:prstGeom>
          <a:ln w="28575" cap="flat">
            <a:solidFill>
              <a:srgbClr val="20D8EE"/>
            </a:solidFill>
            <a:prstDash val="solid"/>
            <a:headEnd type="none" w="sm" len="sm"/>
            <a:tailEnd type="arrow" w="med" len="sm"/>
          </a:ln>
        </p:spPr>
        <p:txBody>
          <a:bodyPr/>
          <a:lstStyle/>
          <a:p>
            <a:endParaRPr lang="en-IN" dirty="0"/>
          </a:p>
        </p:txBody>
      </p:sp>
      <p:grpSp>
        <p:nvGrpSpPr>
          <p:cNvPr id="16" name="Group 16"/>
          <p:cNvGrpSpPr/>
          <p:nvPr/>
        </p:nvGrpSpPr>
        <p:grpSpPr>
          <a:xfrm>
            <a:off x="876300" y="6057213"/>
            <a:ext cx="7848600" cy="1067487"/>
            <a:chOff x="-50800" y="80449"/>
            <a:chExt cx="10464800" cy="1423317"/>
          </a:xfrm>
        </p:grpSpPr>
        <p:sp>
          <p:nvSpPr>
            <p:cNvPr id="17" name="Freeform 17"/>
            <p:cNvSpPr/>
            <p:nvPr/>
          </p:nvSpPr>
          <p:spPr>
            <a:xfrm>
              <a:off x="-50800" y="200864"/>
              <a:ext cx="10414000" cy="1302902"/>
            </a:xfrm>
            <a:custGeom>
              <a:avLst/>
              <a:gdLst/>
              <a:ahLst/>
              <a:cxnLst/>
              <a:rect l="l" t="t" r="r" b="b"/>
              <a:pathLst>
                <a:path w="10414000" h="1302902">
                  <a:moveTo>
                    <a:pt x="203200" y="0"/>
                  </a:moveTo>
                  <a:lnTo>
                    <a:pt x="10210800" y="0"/>
                  </a:lnTo>
                  <a:cubicBezTo>
                    <a:pt x="10323024" y="0"/>
                    <a:pt x="10414000" y="90976"/>
                    <a:pt x="10414000" y="203200"/>
                  </a:cubicBezTo>
                  <a:lnTo>
                    <a:pt x="10414000" y="1099702"/>
                  </a:lnTo>
                  <a:cubicBezTo>
                    <a:pt x="10414000" y="1211926"/>
                    <a:pt x="10323024" y="1302902"/>
                    <a:pt x="10210800" y="1302902"/>
                  </a:cubicBezTo>
                  <a:lnTo>
                    <a:pt x="203200" y="1302902"/>
                  </a:lnTo>
                  <a:cubicBezTo>
                    <a:pt x="149308" y="1302902"/>
                    <a:pt x="97623" y="1281493"/>
                    <a:pt x="59516" y="1243386"/>
                  </a:cubicBezTo>
                  <a:cubicBezTo>
                    <a:pt x="21409" y="1205278"/>
                    <a:pt x="0" y="1153594"/>
                    <a:pt x="0" y="1099702"/>
                  </a:cubicBezTo>
                  <a:lnTo>
                    <a:pt x="0" y="203200"/>
                  </a:lnTo>
                  <a:cubicBezTo>
                    <a:pt x="0" y="90976"/>
                    <a:pt x="90976" y="0"/>
                    <a:pt x="203200" y="0"/>
                  </a:cubicBezTo>
                  <a:close/>
                </a:path>
              </a:pathLst>
            </a:custGeom>
            <a:solidFill>
              <a:srgbClr val="175235"/>
            </a:solidFill>
            <a:ln w="19050" cap="sq">
              <a:solidFill>
                <a:srgbClr val="39D98A"/>
              </a:solidFill>
              <a:prstDash val="solid"/>
              <a:miter/>
            </a:ln>
          </p:spPr>
        </p:sp>
        <p:sp>
          <p:nvSpPr>
            <p:cNvPr id="18" name="TextBox 18"/>
            <p:cNvSpPr txBox="1"/>
            <p:nvPr/>
          </p:nvSpPr>
          <p:spPr>
            <a:xfrm>
              <a:off x="0" y="80449"/>
              <a:ext cx="10414000" cy="1331477"/>
            </a:xfrm>
            <a:prstGeom prst="rect">
              <a:avLst/>
            </a:prstGeom>
          </p:spPr>
          <p:txBody>
            <a:bodyPr lIns="254000" tIns="254000" rIns="254000" bIns="254000" rtlCol="0" anchor="ctr"/>
            <a:lstStyle/>
            <a:p>
              <a:pPr algn="l">
                <a:lnSpc>
                  <a:spcPts val="1904"/>
                </a:lnSpc>
              </a:pPr>
              <a:r>
                <a:rPr lang="en-US" sz="1700" b="1" dirty="0">
                  <a:solidFill>
                    <a:srgbClr val="F5F8FF"/>
                  </a:solidFill>
                  <a:latin typeface="Akzidenz-Grotesk Bold"/>
                  <a:ea typeface="Akzidenz-Grotesk Bold"/>
                  <a:cs typeface="Akzidenz-Grotesk Bold"/>
                  <a:sym typeface="Akzidenz-Grotesk Bold"/>
                </a:rPr>
                <a:t>04   SHOW EVIDENCE</a:t>
              </a:r>
            </a:p>
            <a:p>
              <a:pPr algn="l">
                <a:lnSpc>
                  <a:spcPts val="1904"/>
                </a:lnSpc>
              </a:pPr>
              <a:r>
                <a:rPr lang="en-US" sz="1700" b="1" dirty="0">
                  <a:solidFill>
                    <a:srgbClr val="F5F8FF"/>
                  </a:solidFill>
                  <a:latin typeface="Akzidenz-Grotesk Bold"/>
                  <a:ea typeface="Akzidenz-Grotesk Bold"/>
                  <a:cs typeface="Akzidenz-Grotesk Bold"/>
                  <a:sym typeface="Akzidenz-Grotesk Bold"/>
                </a:rPr>
                <a:t>Show the generated answer and exact source citations.</a:t>
              </a:r>
            </a:p>
          </p:txBody>
        </p:sp>
      </p:grpSp>
      <p:sp>
        <p:nvSpPr>
          <p:cNvPr id="19" name="AutoShape 19"/>
          <p:cNvSpPr/>
          <p:nvPr/>
        </p:nvSpPr>
        <p:spPr>
          <a:xfrm>
            <a:off x="4572000" y="7181850"/>
            <a:ext cx="0" cy="171450"/>
          </a:xfrm>
          <a:prstGeom prst="line">
            <a:avLst/>
          </a:prstGeom>
          <a:ln w="28575" cap="flat">
            <a:solidFill>
              <a:srgbClr val="39D98A"/>
            </a:solidFill>
            <a:prstDash val="solid"/>
            <a:headEnd type="none" w="sm" len="sm"/>
            <a:tailEnd type="arrow" w="med" len="sm"/>
          </a:ln>
        </p:spPr>
      </p:sp>
      <p:grpSp>
        <p:nvGrpSpPr>
          <p:cNvPr id="20" name="Group 20"/>
          <p:cNvGrpSpPr/>
          <p:nvPr/>
        </p:nvGrpSpPr>
        <p:grpSpPr>
          <a:xfrm>
            <a:off x="895066" y="7471862"/>
            <a:ext cx="7810500" cy="1215301"/>
            <a:chOff x="0" y="0"/>
            <a:chExt cx="10414000" cy="1620402"/>
          </a:xfrm>
        </p:grpSpPr>
        <p:sp>
          <p:nvSpPr>
            <p:cNvPr id="21" name="Freeform 21"/>
            <p:cNvSpPr/>
            <p:nvPr/>
          </p:nvSpPr>
          <p:spPr>
            <a:xfrm>
              <a:off x="0" y="0"/>
              <a:ext cx="10414000" cy="1620402"/>
            </a:xfrm>
            <a:custGeom>
              <a:avLst/>
              <a:gdLst/>
              <a:ahLst/>
              <a:cxnLst/>
              <a:rect l="l" t="t" r="r" b="b"/>
              <a:pathLst>
                <a:path w="10414000" h="1620402">
                  <a:moveTo>
                    <a:pt x="203200" y="0"/>
                  </a:moveTo>
                  <a:lnTo>
                    <a:pt x="10210800" y="0"/>
                  </a:lnTo>
                  <a:cubicBezTo>
                    <a:pt x="10323024" y="0"/>
                    <a:pt x="10414000" y="90976"/>
                    <a:pt x="10414000" y="203200"/>
                  </a:cubicBezTo>
                  <a:lnTo>
                    <a:pt x="10414000" y="1417202"/>
                  </a:lnTo>
                  <a:cubicBezTo>
                    <a:pt x="10414000" y="1529426"/>
                    <a:pt x="10323024" y="1620402"/>
                    <a:pt x="10210800" y="1620402"/>
                  </a:cubicBezTo>
                  <a:lnTo>
                    <a:pt x="203200" y="1620402"/>
                  </a:lnTo>
                  <a:cubicBezTo>
                    <a:pt x="149308" y="1620402"/>
                    <a:pt x="97623" y="1598993"/>
                    <a:pt x="59516" y="1560886"/>
                  </a:cubicBezTo>
                  <a:cubicBezTo>
                    <a:pt x="21409" y="1522778"/>
                    <a:pt x="0" y="1471094"/>
                    <a:pt x="0" y="1417202"/>
                  </a:cubicBezTo>
                  <a:lnTo>
                    <a:pt x="0" y="203200"/>
                  </a:lnTo>
                  <a:cubicBezTo>
                    <a:pt x="0" y="90976"/>
                    <a:pt x="90976" y="0"/>
                    <a:pt x="203200" y="0"/>
                  </a:cubicBezTo>
                  <a:close/>
                </a:path>
              </a:pathLst>
            </a:custGeom>
            <a:solidFill>
              <a:srgbClr val="9B6CFF"/>
            </a:solidFill>
            <a:ln w="19050" cap="sq">
              <a:solidFill>
                <a:srgbClr val="9B6CFF"/>
              </a:solidFill>
              <a:prstDash val="solid"/>
              <a:miter/>
            </a:ln>
          </p:spPr>
        </p:sp>
        <p:sp>
          <p:nvSpPr>
            <p:cNvPr id="22" name="TextBox 22"/>
            <p:cNvSpPr txBox="1"/>
            <p:nvPr/>
          </p:nvSpPr>
          <p:spPr>
            <a:xfrm>
              <a:off x="0" y="-28575"/>
              <a:ext cx="10414000" cy="1648977"/>
            </a:xfrm>
            <a:prstGeom prst="rect">
              <a:avLst/>
            </a:prstGeom>
          </p:spPr>
          <p:txBody>
            <a:bodyPr lIns="254000" tIns="254000" rIns="254000" bIns="254000" rtlCol="0" anchor="ctr"/>
            <a:lstStyle/>
            <a:p>
              <a:pPr algn="l">
                <a:lnSpc>
                  <a:spcPts val="1904"/>
                </a:lnSpc>
              </a:pPr>
              <a:r>
                <a:rPr lang="en-US" sz="1700" b="1" dirty="0">
                  <a:solidFill>
                    <a:srgbClr val="F5F8FF"/>
                  </a:solidFill>
                  <a:latin typeface="Akzidenz-Grotesk Bold"/>
                  <a:ea typeface="Akzidenz-Grotesk Bold"/>
                  <a:cs typeface="Akzidenz-Grotesk Bold"/>
                  <a:sym typeface="Akzidenz-Grotesk Bold"/>
                </a:rPr>
                <a:t>05   TEST THE LIMITS</a:t>
              </a:r>
            </a:p>
            <a:p>
              <a:pPr algn="l">
                <a:lnSpc>
                  <a:spcPts val="1904"/>
                </a:lnSpc>
              </a:pPr>
              <a:r>
                <a:rPr lang="en-US" sz="1700" b="1" dirty="0">
                  <a:solidFill>
                    <a:srgbClr val="F5F8FF"/>
                  </a:solidFill>
                  <a:latin typeface="Akzidenz-Grotesk Bold"/>
                  <a:ea typeface="Akzidenz-Grotesk Bold"/>
                  <a:cs typeface="Akzidenz-Grotesk Bold"/>
                  <a:sym typeface="Akzidenz-Grotesk Bold"/>
                </a:rPr>
                <a:t>Try an ambiguous or unanswerable question and demonstrate the response.</a:t>
              </a:r>
            </a:p>
          </p:txBody>
        </p:sp>
      </p:grpSp>
      <p:sp>
        <p:nvSpPr>
          <p:cNvPr id="24" name="Rectangle 23">
            <a:extLst>
              <a:ext uri="{FF2B5EF4-FFF2-40B4-BE49-F238E27FC236}">
                <a16:creationId xmlns:a16="http://schemas.microsoft.com/office/drawing/2014/main" id="{69DAB8B2-17A9-E088-6C00-9A7DAB494CE0}"/>
              </a:ext>
            </a:extLst>
          </p:cNvPr>
          <p:cNvSpPr/>
          <p:nvPr/>
        </p:nvSpPr>
        <p:spPr>
          <a:xfrm>
            <a:off x="9858378" y="840740"/>
            <a:ext cx="7715246" cy="5943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Freeform 23"/>
          <p:cNvSpPr/>
          <p:nvPr/>
        </p:nvSpPr>
        <p:spPr>
          <a:xfrm>
            <a:off x="9973283" y="921112"/>
            <a:ext cx="7429500" cy="5715000"/>
          </a:xfrm>
          <a:custGeom>
            <a:avLst/>
            <a:gdLst/>
            <a:ahLst/>
            <a:cxnLst/>
            <a:rect l="l" t="t" r="r" b="b"/>
            <a:pathLst>
              <a:path w="7429500" h="5715000">
                <a:moveTo>
                  <a:pt x="0" y="0"/>
                </a:moveTo>
                <a:lnTo>
                  <a:pt x="7429500" y="0"/>
                </a:lnTo>
                <a:lnTo>
                  <a:pt x="7429500" y="5715000"/>
                </a:lnTo>
                <a:lnTo>
                  <a:pt x="0" y="5715000"/>
                </a:lnTo>
                <a:lnTo>
                  <a:pt x="0" y="0"/>
                </a:lnTo>
                <a:close/>
              </a:path>
            </a:pathLst>
          </a:custGeom>
          <a:blipFill>
            <a:blip r:embed="rId3"/>
            <a:stretch>
              <a:fillRect l="-31" r="-31"/>
            </a:stretch>
          </a:blipFill>
        </p:spPr>
        <p:txBody>
          <a:bodyPr/>
          <a:lstStyle/>
          <a:p>
            <a:endParaRPr lang="en-IN" dirty="0"/>
          </a:p>
        </p:txBody>
      </p:sp>
      <p:sp>
        <p:nvSpPr>
          <p:cNvPr id="25" name="TextBox 24">
            <a:extLst>
              <a:ext uri="{FF2B5EF4-FFF2-40B4-BE49-F238E27FC236}">
                <a16:creationId xmlns:a16="http://schemas.microsoft.com/office/drawing/2014/main" id="{6948ADEB-5A7F-4AA8-AFC4-2CABFAC41054}"/>
              </a:ext>
            </a:extLst>
          </p:cNvPr>
          <p:cNvSpPr txBox="1"/>
          <p:nvPr/>
        </p:nvSpPr>
        <p:spPr>
          <a:xfrm>
            <a:off x="9448801" y="7055821"/>
            <a:ext cx="8458198" cy="2677656"/>
          </a:xfrm>
          <a:prstGeom prst="rect">
            <a:avLst/>
          </a:prstGeom>
          <a:noFill/>
        </p:spPr>
        <p:txBody>
          <a:bodyPr wrap="square" rtlCol="0">
            <a:spAutoFit/>
          </a:bodyPr>
          <a:lstStyle/>
          <a:p>
            <a:r>
              <a:rPr lang="en-IN" sz="2400" b="1" u="sng" dirty="0">
                <a:solidFill>
                  <a:srgbClr val="FFC000"/>
                </a:solidFill>
              </a:rPr>
              <a:t>RAG Pipeline Optimization &amp; Metric Improvements</a:t>
            </a:r>
          </a:p>
          <a:p>
            <a:pPr lvl="0"/>
            <a:r>
              <a:rPr lang="en-IN" b="1" dirty="0">
                <a:solidFill>
                  <a:schemeClr val="bg1"/>
                </a:solidFill>
              </a:rPr>
              <a:t>Retrieval:</a:t>
            </a:r>
            <a:r>
              <a:rPr lang="en-IN" dirty="0">
                <a:solidFill>
                  <a:schemeClr val="bg1"/>
                </a:solidFill>
              </a:rPr>
              <a:t> Increased chunk limit from 10 to 15 (+50%), capped chunks per file at 2 for cross-file diversity, and expanded keyword extraction from 12 to 16 identifiers.</a:t>
            </a:r>
          </a:p>
          <a:p>
            <a:pPr lvl="0"/>
            <a:r>
              <a:rPr lang="en-IN" b="1" dirty="0">
                <a:solidFill>
                  <a:schemeClr val="bg1"/>
                </a:solidFill>
              </a:rPr>
              <a:t>Generation:</a:t>
            </a:r>
            <a:r>
              <a:rPr lang="en-IN" dirty="0">
                <a:solidFill>
                  <a:schemeClr val="bg1"/>
                </a:solidFill>
              </a:rPr>
              <a:t> Set temperature to 0.0 for deterministic grounding, enforced schema-completeness directives, and added anti-extrapolation guardrails against unsupported SDK assumptions.</a:t>
            </a:r>
          </a:p>
          <a:p>
            <a:pPr lvl="0"/>
            <a:r>
              <a:rPr lang="en-IN" b="1" dirty="0">
                <a:solidFill>
                  <a:schemeClr val="bg1"/>
                </a:solidFill>
              </a:rPr>
              <a:t>Results:</a:t>
            </a:r>
            <a:r>
              <a:rPr lang="en-IN" dirty="0">
                <a:solidFill>
                  <a:schemeClr val="bg1"/>
                </a:solidFill>
              </a:rPr>
              <a:t> Improved schema correctness from 20% to 90%, achieving </a:t>
            </a:r>
            <a:r>
              <a:rPr lang="en-IN" b="1" dirty="0">
                <a:solidFill>
                  <a:schemeClr val="bg1"/>
                </a:solidFill>
              </a:rPr>
              <a:t>91% Context Recall, 93% Faithfulness, and 86% Answer Correctness</a:t>
            </a:r>
            <a:r>
              <a:rPr lang="en-IN" dirty="0">
                <a:solidFill>
                  <a:schemeClr val="bg1"/>
                </a:solidFill>
              </a:rPr>
              <a:t> across 11 edge-case categories.</a:t>
            </a:r>
          </a:p>
          <a:p>
            <a:endParaRPr lang="en-IN"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grpSp>
        <p:nvGrpSpPr>
          <p:cNvPr id="2" name="Group 2"/>
          <p:cNvGrpSpPr/>
          <p:nvPr/>
        </p:nvGrpSpPr>
        <p:grpSpPr>
          <a:xfrm>
            <a:off x="10306050" y="1394765"/>
            <a:ext cx="4762500" cy="762000"/>
            <a:chOff x="0" y="0"/>
            <a:chExt cx="6350000" cy="1016000"/>
          </a:xfrm>
        </p:grpSpPr>
        <p:grpSp>
          <p:nvGrpSpPr>
            <p:cNvPr id="3" name="Group 3"/>
            <p:cNvGrpSpPr/>
            <p:nvPr/>
          </p:nvGrpSpPr>
          <p:grpSpPr>
            <a:xfrm>
              <a:off x="0" y="101600"/>
              <a:ext cx="228600" cy="914400"/>
              <a:chOff x="0" y="0"/>
              <a:chExt cx="228600" cy="914400"/>
            </a:xfrm>
          </p:grpSpPr>
          <p:sp>
            <p:nvSpPr>
              <p:cNvPr id="4" name="Freeform 4"/>
              <p:cNvSpPr/>
              <p:nvPr/>
            </p:nvSpPr>
            <p:spPr>
              <a:xfrm>
                <a:off x="0" y="0"/>
                <a:ext cx="228600" cy="914400"/>
              </a:xfrm>
              <a:custGeom>
                <a:avLst/>
                <a:gdLst/>
                <a:ahLst/>
                <a:cxnLst/>
                <a:rect l="l" t="t" r="r" b="b"/>
                <a:pathLst>
                  <a:path w="228600" h="914400">
                    <a:moveTo>
                      <a:pt x="0" y="0"/>
                    </a:moveTo>
                    <a:lnTo>
                      <a:pt x="228600" y="0"/>
                    </a:lnTo>
                    <a:lnTo>
                      <a:pt x="228600" y="914400"/>
                    </a:lnTo>
                    <a:lnTo>
                      <a:pt x="0" y="914400"/>
                    </a:lnTo>
                    <a:close/>
                  </a:path>
                </a:pathLst>
              </a:custGeom>
              <a:solidFill>
                <a:srgbClr val="39D98A"/>
              </a:solidFill>
              <a:ln cap="sq">
                <a:noFill/>
                <a:prstDash val="solid"/>
                <a:miter/>
              </a:ln>
            </p:spPr>
          </p:sp>
          <p:sp>
            <p:nvSpPr>
              <p:cNvPr id="5" name="TextBox 5"/>
              <p:cNvSpPr txBox="1"/>
              <p:nvPr/>
            </p:nvSpPr>
            <p:spPr>
              <a:xfrm>
                <a:off x="0" y="-38100"/>
                <a:ext cx="228600" cy="9525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635000" y="-38100"/>
              <a:ext cx="3556000" cy="523240"/>
            </a:xfrm>
            <a:prstGeom prst="rect">
              <a:avLst/>
            </a:prstGeom>
          </p:spPr>
          <p:txBody>
            <a:bodyPr lIns="0" tIns="0" rIns="0" bIns="0" rtlCol="0" anchor="t">
              <a:spAutoFit/>
            </a:bodyPr>
            <a:lstStyle/>
            <a:p>
              <a:pPr algn="l">
                <a:lnSpc>
                  <a:spcPts val="2640"/>
                </a:lnSpc>
              </a:pPr>
              <a:r>
                <a:rPr lang="en-US" sz="2400" b="1">
                  <a:solidFill>
                    <a:srgbClr val="F5F8FF"/>
                  </a:solidFill>
                  <a:latin typeface="Akzidenz-Grotesk Bold"/>
                  <a:ea typeface="Akzidenz-Grotesk Bold"/>
                  <a:cs typeface="Akzidenz-Grotesk Bold"/>
                  <a:sym typeface="Akzidenz-Grotesk Bold"/>
                </a:rPr>
                <a:t>Original Code</a:t>
              </a:r>
            </a:p>
          </p:txBody>
        </p:sp>
        <p:sp>
          <p:nvSpPr>
            <p:cNvPr id="7" name="TextBox 7"/>
            <p:cNvSpPr txBox="1"/>
            <p:nvPr/>
          </p:nvSpPr>
          <p:spPr>
            <a:xfrm>
              <a:off x="635000" y="609600"/>
              <a:ext cx="5715000" cy="304800"/>
            </a:xfrm>
            <a:prstGeom prst="rect">
              <a:avLst/>
            </a:prstGeom>
          </p:spPr>
          <p:txBody>
            <a:bodyPr lIns="0" tIns="0" rIns="0" bIns="0" rtlCol="0" anchor="t">
              <a:spAutoFit/>
            </a:bodyPr>
            <a:lstStyle/>
            <a:p>
              <a:pPr algn="l">
                <a:lnSpc>
                  <a:spcPts val="1875"/>
                </a:lnSpc>
              </a:pPr>
              <a:r>
                <a:rPr lang="en-US" sz="1500">
                  <a:solidFill>
                    <a:srgbClr val="9EB0C9"/>
                  </a:solidFill>
                  <a:latin typeface="Open Sans"/>
                  <a:ea typeface="Open Sans"/>
                  <a:cs typeface="Open Sans"/>
                  <a:sym typeface="Open Sans"/>
                </a:rPr>
                <a:t>Chunks retained as evidence</a:t>
              </a:r>
            </a:p>
          </p:txBody>
        </p:sp>
      </p:grpSp>
      <p:grpSp>
        <p:nvGrpSpPr>
          <p:cNvPr id="8" name="Group 8"/>
          <p:cNvGrpSpPr/>
          <p:nvPr/>
        </p:nvGrpSpPr>
        <p:grpSpPr>
          <a:xfrm>
            <a:off x="10306050" y="2368280"/>
            <a:ext cx="5238750" cy="762000"/>
            <a:chOff x="0" y="0"/>
            <a:chExt cx="6985000" cy="1016000"/>
          </a:xfrm>
        </p:grpSpPr>
        <p:grpSp>
          <p:nvGrpSpPr>
            <p:cNvPr id="9" name="Group 9"/>
            <p:cNvGrpSpPr/>
            <p:nvPr/>
          </p:nvGrpSpPr>
          <p:grpSpPr>
            <a:xfrm>
              <a:off x="0" y="101600"/>
              <a:ext cx="228600" cy="914400"/>
              <a:chOff x="0" y="0"/>
              <a:chExt cx="228600" cy="914400"/>
            </a:xfrm>
          </p:grpSpPr>
          <p:sp>
            <p:nvSpPr>
              <p:cNvPr id="10" name="Freeform 10"/>
              <p:cNvSpPr/>
              <p:nvPr/>
            </p:nvSpPr>
            <p:spPr>
              <a:xfrm>
                <a:off x="0" y="0"/>
                <a:ext cx="228600" cy="914400"/>
              </a:xfrm>
              <a:custGeom>
                <a:avLst/>
                <a:gdLst/>
                <a:ahLst/>
                <a:cxnLst/>
                <a:rect l="l" t="t" r="r" b="b"/>
                <a:pathLst>
                  <a:path w="228600" h="914400">
                    <a:moveTo>
                      <a:pt x="0" y="0"/>
                    </a:moveTo>
                    <a:lnTo>
                      <a:pt x="228600" y="0"/>
                    </a:lnTo>
                    <a:lnTo>
                      <a:pt x="228600" y="914400"/>
                    </a:lnTo>
                    <a:lnTo>
                      <a:pt x="0" y="914400"/>
                    </a:lnTo>
                    <a:close/>
                  </a:path>
                </a:pathLst>
              </a:custGeom>
              <a:solidFill>
                <a:srgbClr val="39D98A"/>
              </a:solidFill>
              <a:ln cap="sq">
                <a:noFill/>
                <a:prstDash val="solid"/>
                <a:miter/>
              </a:ln>
            </p:spPr>
          </p:sp>
          <p:sp>
            <p:nvSpPr>
              <p:cNvPr id="11" name="TextBox 11"/>
              <p:cNvSpPr txBox="1"/>
              <p:nvPr/>
            </p:nvSpPr>
            <p:spPr>
              <a:xfrm>
                <a:off x="0" y="-38100"/>
                <a:ext cx="228600" cy="952500"/>
              </a:xfrm>
              <a:prstGeom prst="rect">
                <a:avLst/>
              </a:prstGeom>
            </p:spPr>
            <p:txBody>
              <a:bodyPr lIns="50800" tIns="50800" rIns="50800" bIns="50800" rtlCol="0" anchor="ctr"/>
              <a:lstStyle/>
              <a:p>
                <a:pPr algn="l">
                  <a:lnSpc>
                    <a:spcPts val="1679"/>
                  </a:lnSpc>
                </a:pPr>
                <a:endParaRPr/>
              </a:p>
            </p:txBody>
          </p:sp>
        </p:grpSp>
        <p:sp>
          <p:nvSpPr>
            <p:cNvPr id="12" name="TextBox 12"/>
            <p:cNvSpPr txBox="1"/>
            <p:nvPr/>
          </p:nvSpPr>
          <p:spPr>
            <a:xfrm>
              <a:off x="635000" y="-38100"/>
              <a:ext cx="3556000" cy="523240"/>
            </a:xfrm>
            <a:prstGeom prst="rect">
              <a:avLst/>
            </a:prstGeom>
          </p:spPr>
          <p:txBody>
            <a:bodyPr lIns="0" tIns="0" rIns="0" bIns="0" rtlCol="0" anchor="t">
              <a:spAutoFit/>
            </a:bodyPr>
            <a:lstStyle/>
            <a:p>
              <a:pPr algn="l">
                <a:lnSpc>
                  <a:spcPts val="2640"/>
                </a:lnSpc>
              </a:pPr>
              <a:r>
                <a:rPr lang="en-US" sz="2400" b="1">
                  <a:solidFill>
                    <a:srgbClr val="F5F8FF"/>
                  </a:solidFill>
                  <a:latin typeface="Akzidenz-Grotesk Bold"/>
                  <a:ea typeface="Akzidenz-Grotesk Bold"/>
                  <a:cs typeface="Akzidenz-Grotesk Bold"/>
                  <a:sym typeface="Akzidenz-Grotesk Bold"/>
                </a:rPr>
                <a:t>Embeddings</a:t>
              </a:r>
            </a:p>
          </p:txBody>
        </p:sp>
        <p:sp>
          <p:nvSpPr>
            <p:cNvPr id="13" name="TextBox 13"/>
            <p:cNvSpPr txBox="1"/>
            <p:nvPr/>
          </p:nvSpPr>
          <p:spPr>
            <a:xfrm>
              <a:off x="635000" y="609600"/>
              <a:ext cx="6350000" cy="304800"/>
            </a:xfrm>
            <a:prstGeom prst="rect">
              <a:avLst/>
            </a:prstGeom>
          </p:spPr>
          <p:txBody>
            <a:bodyPr lIns="0" tIns="0" rIns="0" bIns="0" rtlCol="0" anchor="t">
              <a:spAutoFit/>
            </a:bodyPr>
            <a:lstStyle/>
            <a:p>
              <a:pPr algn="l">
                <a:lnSpc>
                  <a:spcPts val="1875"/>
                </a:lnSpc>
              </a:pPr>
              <a:r>
                <a:rPr lang="en-US" sz="1500">
                  <a:solidFill>
                    <a:srgbClr val="9EB0C9"/>
                  </a:solidFill>
                  <a:latin typeface="Open Sans"/>
                  <a:ea typeface="Open Sans"/>
                  <a:cs typeface="Open Sans"/>
                  <a:sym typeface="Open Sans"/>
                </a:rPr>
                <a:t>Vector representations for semantic search</a:t>
              </a:r>
            </a:p>
          </p:txBody>
        </p:sp>
      </p:grpSp>
      <p:grpSp>
        <p:nvGrpSpPr>
          <p:cNvPr id="14" name="Group 14"/>
          <p:cNvGrpSpPr/>
          <p:nvPr/>
        </p:nvGrpSpPr>
        <p:grpSpPr>
          <a:xfrm>
            <a:off x="10312130" y="3476149"/>
            <a:ext cx="5238750" cy="762000"/>
            <a:chOff x="0" y="0"/>
            <a:chExt cx="6985000" cy="1016000"/>
          </a:xfrm>
        </p:grpSpPr>
        <p:grpSp>
          <p:nvGrpSpPr>
            <p:cNvPr id="15" name="Group 15"/>
            <p:cNvGrpSpPr/>
            <p:nvPr/>
          </p:nvGrpSpPr>
          <p:grpSpPr>
            <a:xfrm>
              <a:off x="0" y="101600"/>
              <a:ext cx="228600" cy="914400"/>
              <a:chOff x="0" y="0"/>
              <a:chExt cx="228600" cy="914400"/>
            </a:xfrm>
          </p:grpSpPr>
          <p:sp>
            <p:nvSpPr>
              <p:cNvPr id="16" name="Freeform 16"/>
              <p:cNvSpPr/>
              <p:nvPr/>
            </p:nvSpPr>
            <p:spPr>
              <a:xfrm>
                <a:off x="0" y="0"/>
                <a:ext cx="228600" cy="914400"/>
              </a:xfrm>
              <a:custGeom>
                <a:avLst/>
                <a:gdLst/>
                <a:ahLst/>
                <a:cxnLst/>
                <a:rect l="l" t="t" r="r" b="b"/>
                <a:pathLst>
                  <a:path w="228600" h="914400">
                    <a:moveTo>
                      <a:pt x="0" y="0"/>
                    </a:moveTo>
                    <a:lnTo>
                      <a:pt x="228600" y="0"/>
                    </a:lnTo>
                    <a:lnTo>
                      <a:pt x="228600" y="914400"/>
                    </a:lnTo>
                    <a:lnTo>
                      <a:pt x="0" y="914400"/>
                    </a:lnTo>
                    <a:close/>
                  </a:path>
                </a:pathLst>
              </a:custGeom>
              <a:solidFill>
                <a:srgbClr val="39D98A"/>
              </a:solidFill>
              <a:ln cap="sq">
                <a:noFill/>
                <a:prstDash val="solid"/>
                <a:miter/>
              </a:ln>
            </p:spPr>
          </p:sp>
          <p:sp>
            <p:nvSpPr>
              <p:cNvPr id="17" name="TextBox 17"/>
              <p:cNvSpPr txBox="1"/>
              <p:nvPr/>
            </p:nvSpPr>
            <p:spPr>
              <a:xfrm>
                <a:off x="0" y="-38100"/>
                <a:ext cx="228600" cy="952500"/>
              </a:xfrm>
              <a:prstGeom prst="rect">
                <a:avLst/>
              </a:prstGeom>
            </p:spPr>
            <p:txBody>
              <a:bodyPr lIns="50800" tIns="50800" rIns="50800" bIns="50800" rtlCol="0" anchor="ctr"/>
              <a:lstStyle/>
              <a:p>
                <a:pPr algn="l">
                  <a:lnSpc>
                    <a:spcPts val="1679"/>
                  </a:lnSpc>
                </a:pPr>
                <a:endParaRPr/>
              </a:p>
            </p:txBody>
          </p:sp>
        </p:grpSp>
        <p:sp>
          <p:nvSpPr>
            <p:cNvPr id="18" name="TextBox 18"/>
            <p:cNvSpPr txBox="1"/>
            <p:nvPr/>
          </p:nvSpPr>
          <p:spPr>
            <a:xfrm>
              <a:off x="635000" y="-38100"/>
              <a:ext cx="3556000" cy="523240"/>
            </a:xfrm>
            <a:prstGeom prst="rect">
              <a:avLst/>
            </a:prstGeom>
          </p:spPr>
          <p:txBody>
            <a:bodyPr lIns="0" tIns="0" rIns="0" bIns="0" rtlCol="0" anchor="t">
              <a:spAutoFit/>
            </a:bodyPr>
            <a:lstStyle/>
            <a:p>
              <a:pPr algn="l">
                <a:lnSpc>
                  <a:spcPts val="2640"/>
                </a:lnSpc>
              </a:pPr>
              <a:r>
                <a:rPr lang="en-US" sz="2400" b="1">
                  <a:solidFill>
                    <a:srgbClr val="F5F8FF"/>
                  </a:solidFill>
                  <a:latin typeface="Akzidenz-Grotesk Bold"/>
                  <a:ea typeface="Akzidenz-Grotesk Bold"/>
                  <a:cs typeface="Akzidenz-Grotesk Bold"/>
                  <a:sym typeface="Akzidenz-Grotesk Bold"/>
                </a:rPr>
                <a:t>Metadata</a:t>
              </a:r>
            </a:p>
          </p:txBody>
        </p:sp>
        <p:sp>
          <p:nvSpPr>
            <p:cNvPr id="19" name="TextBox 19"/>
            <p:cNvSpPr txBox="1"/>
            <p:nvPr/>
          </p:nvSpPr>
          <p:spPr>
            <a:xfrm>
              <a:off x="635000" y="609600"/>
              <a:ext cx="6350000" cy="304800"/>
            </a:xfrm>
            <a:prstGeom prst="rect">
              <a:avLst/>
            </a:prstGeom>
          </p:spPr>
          <p:txBody>
            <a:bodyPr lIns="0" tIns="0" rIns="0" bIns="0" rtlCol="0" anchor="t">
              <a:spAutoFit/>
            </a:bodyPr>
            <a:lstStyle/>
            <a:p>
              <a:pPr algn="l">
                <a:lnSpc>
                  <a:spcPts val="1875"/>
                </a:lnSpc>
              </a:pPr>
              <a:r>
                <a:rPr lang="en-US" sz="1500">
                  <a:solidFill>
                    <a:srgbClr val="9EB0C9"/>
                  </a:solidFill>
                  <a:latin typeface="Open Sans"/>
                  <a:ea typeface="Open Sans"/>
                  <a:cs typeface="Open Sans"/>
                  <a:sym typeface="Open Sans"/>
                </a:rPr>
                <a:t>Repository, file paths and line ranges</a:t>
              </a:r>
            </a:p>
          </p:txBody>
        </p:sp>
      </p:grpSp>
      <p:grpSp>
        <p:nvGrpSpPr>
          <p:cNvPr id="20" name="Group 20"/>
          <p:cNvGrpSpPr/>
          <p:nvPr/>
        </p:nvGrpSpPr>
        <p:grpSpPr>
          <a:xfrm>
            <a:off x="857250" y="8191500"/>
            <a:ext cx="2190750" cy="952500"/>
            <a:chOff x="0" y="0"/>
            <a:chExt cx="2921000" cy="1270000"/>
          </a:xfrm>
        </p:grpSpPr>
        <p:sp>
          <p:nvSpPr>
            <p:cNvPr id="21" name="Freeform 21"/>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123A5C"/>
            </a:solidFill>
            <a:ln cap="sq">
              <a:noFill/>
              <a:prstDash val="solid"/>
              <a:miter/>
            </a:ln>
          </p:spPr>
        </p:sp>
        <p:sp>
          <p:nvSpPr>
            <p:cNvPr id="22" name="TextBox 22"/>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GITHUB CODE</a:t>
              </a:r>
            </a:p>
          </p:txBody>
        </p:sp>
      </p:grpSp>
      <p:sp>
        <p:nvSpPr>
          <p:cNvPr id="23" name="AutoShape 23"/>
          <p:cNvSpPr/>
          <p:nvPr/>
        </p:nvSpPr>
        <p:spPr>
          <a:xfrm>
            <a:off x="3048000" y="8667750"/>
            <a:ext cx="590550" cy="0"/>
          </a:xfrm>
          <a:prstGeom prst="line">
            <a:avLst/>
          </a:prstGeom>
          <a:ln w="38100" cap="rnd">
            <a:solidFill>
              <a:srgbClr val="20D8EE"/>
            </a:solidFill>
            <a:prstDash val="solid"/>
            <a:headEnd type="none" w="sm" len="sm"/>
            <a:tailEnd type="arrow" w="med" len="sm"/>
          </a:ln>
        </p:spPr>
      </p:sp>
      <p:grpSp>
        <p:nvGrpSpPr>
          <p:cNvPr id="24" name="Group 24"/>
          <p:cNvGrpSpPr/>
          <p:nvPr/>
        </p:nvGrpSpPr>
        <p:grpSpPr>
          <a:xfrm>
            <a:off x="3714750" y="8191500"/>
            <a:ext cx="2190750" cy="952500"/>
            <a:chOff x="0" y="0"/>
            <a:chExt cx="2921000" cy="1270000"/>
          </a:xfrm>
        </p:grpSpPr>
        <p:sp>
          <p:nvSpPr>
            <p:cNvPr id="25" name="Freeform 25"/>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123A5C"/>
            </a:solidFill>
            <a:ln cap="sq">
              <a:noFill/>
              <a:prstDash val="solid"/>
              <a:miter/>
            </a:ln>
          </p:spPr>
        </p:sp>
        <p:sp>
          <p:nvSpPr>
            <p:cNvPr id="26" name="TextBox 26"/>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CHUNKS + META</a:t>
              </a:r>
            </a:p>
            <a:p>
              <a:pPr algn="ctr">
                <a:lnSpc>
                  <a:spcPts val="1811"/>
                </a:lnSpc>
              </a:pPr>
              <a:r>
                <a:rPr lang="en-US" sz="1725" b="1">
                  <a:solidFill>
                    <a:srgbClr val="F5F8FF"/>
                  </a:solidFill>
                  <a:latin typeface="Akzidenz-Grotesk Bold"/>
                  <a:ea typeface="Akzidenz-Grotesk Bold"/>
                  <a:cs typeface="Akzidenz-Grotesk Bold"/>
                  <a:sym typeface="Akzidenz-Grotesk Bold"/>
                </a:rPr>
                <a:t>+ EMBEDDINGS</a:t>
              </a:r>
            </a:p>
          </p:txBody>
        </p:sp>
      </p:grpSp>
      <p:sp>
        <p:nvSpPr>
          <p:cNvPr id="27" name="AutoShape 27"/>
          <p:cNvSpPr/>
          <p:nvPr/>
        </p:nvSpPr>
        <p:spPr>
          <a:xfrm>
            <a:off x="5905500" y="8667750"/>
            <a:ext cx="590550" cy="0"/>
          </a:xfrm>
          <a:prstGeom prst="line">
            <a:avLst/>
          </a:prstGeom>
          <a:ln w="38100" cap="rnd">
            <a:solidFill>
              <a:srgbClr val="20D8EE"/>
            </a:solidFill>
            <a:prstDash val="solid"/>
            <a:headEnd type="none" w="sm" len="sm"/>
            <a:tailEnd type="arrow" w="med" len="sm"/>
          </a:ln>
        </p:spPr>
      </p:sp>
      <p:grpSp>
        <p:nvGrpSpPr>
          <p:cNvPr id="28" name="Group 28"/>
          <p:cNvGrpSpPr/>
          <p:nvPr/>
        </p:nvGrpSpPr>
        <p:grpSpPr>
          <a:xfrm>
            <a:off x="6572250" y="8191500"/>
            <a:ext cx="2190750" cy="952500"/>
            <a:chOff x="0" y="0"/>
            <a:chExt cx="2921000" cy="1270000"/>
          </a:xfrm>
        </p:grpSpPr>
        <p:sp>
          <p:nvSpPr>
            <p:cNvPr id="29" name="Freeform 29"/>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175235"/>
            </a:solidFill>
            <a:ln cap="sq">
              <a:noFill/>
              <a:prstDash val="solid"/>
              <a:miter/>
            </a:ln>
          </p:spPr>
        </p:sp>
        <p:sp>
          <p:nvSpPr>
            <p:cNvPr id="30" name="TextBox 30"/>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MONGODB</a:t>
              </a:r>
            </a:p>
            <a:p>
              <a:pPr algn="ctr">
                <a:lnSpc>
                  <a:spcPts val="1811"/>
                </a:lnSpc>
              </a:pPr>
              <a:r>
                <a:rPr lang="en-US" sz="1725" b="1">
                  <a:solidFill>
                    <a:srgbClr val="F5F8FF"/>
                  </a:solidFill>
                  <a:latin typeface="Akzidenz-Grotesk Bold"/>
                  <a:ea typeface="Akzidenz-Grotesk Bold"/>
                  <a:cs typeface="Akzidenz-Grotesk Bold"/>
                  <a:sym typeface="Akzidenz-Grotesk Bold"/>
                </a:rPr>
                <a:t>ATLAS</a:t>
              </a:r>
            </a:p>
          </p:txBody>
        </p:sp>
      </p:grpSp>
      <p:sp>
        <p:nvSpPr>
          <p:cNvPr id="31" name="AutoShape 31"/>
          <p:cNvSpPr/>
          <p:nvPr/>
        </p:nvSpPr>
        <p:spPr>
          <a:xfrm>
            <a:off x="8763000" y="8667750"/>
            <a:ext cx="590550" cy="0"/>
          </a:xfrm>
          <a:prstGeom prst="line">
            <a:avLst/>
          </a:prstGeom>
          <a:ln w="38100" cap="rnd">
            <a:solidFill>
              <a:srgbClr val="39D98A"/>
            </a:solidFill>
            <a:prstDash val="solid"/>
            <a:headEnd type="none" w="sm" len="sm"/>
            <a:tailEnd type="arrow" w="med" len="sm"/>
          </a:ln>
        </p:spPr>
      </p:sp>
      <p:grpSp>
        <p:nvGrpSpPr>
          <p:cNvPr id="32" name="Group 32"/>
          <p:cNvGrpSpPr/>
          <p:nvPr/>
        </p:nvGrpSpPr>
        <p:grpSpPr>
          <a:xfrm>
            <a:off x="9429750" y="8191500"/>
            <a:ext cx="2190750" cy="952500"/>
            <a:chOff x="0" y="0"/>
            <a:chExt cx="2921000" cy="1270000"/>
          </a:xfrm>
        </p:grpSpPr>
        <p:sp>
          <p:nvSpPr>
            <p:cNvPr id="33" name="Freeform 33"/>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123A5C"/>
            </a:solidFill>
            <a:ln cap="sq">
              <a:noFill/>
              <a:prstDash val="solid"/>
              <a:miter/>
            </a:ln>
          </p:spPr>
        </p:sp>
        <p:sp>
          <p:nvSpPr>
            <p:cNvPr id="34" name="TextBox 34"/>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VECTOR + KEYWORD</a:t>
              </a:r>
            </a:p>
            <a:p>
              <a:pPr algn="ctr">
                <a:lnSpc>
                  <a:spcPts val="1811"/>
                </a:lnSpc>
              </a:pPr>
              <a:r>
                <a:rPr lang="en-US" sz="1725" b="1">
                  <a:solidFill>
                    <a:srgbClr val="F5F8FF"/>
                  </a:solidFill>
                  <a:latin typeface="Akzidenz-Grotesk Bold"/>
                  <a:ea typeface="Akzidenz-Grotesk Bold"/>
                  <a:cs typeface="Akzidenz-Grotesk Bold"/>
                  <a:sym typeface="Akzidenz-Grotesk Bold"/>
                </a:rPr>
                <a:t>SEARCH</a:t>
              </a:r>
            </a:p>
          </p:txBody>
        </p:sp>
      </p:grpSp>
      <p:sp>
        <p:nvSpPr>
          <p:cNvPr id="35" name="AutoShape 35"/>
          <p:cNvSpPr/>
          <p:nvPr/>
        </p:nvSpPr>
        <p:spPr>
          <a:xfrm>
            <a:off x="11620500" y="8667750"/>
            <a:ext cx="590550" cy="0"/>
          </a:xfrm>
          <a:prstGeom prst="line">
            <a:avLst/>
          </a:prstGeom>
          <a:ln w="38100" cap="rnd">
            <a:solidFill>
              <a:srgbClr val="20D8EE"/>
            </a:solidFill>
            <a:prstDash val="solid"/>
            <a:headEnd type="none" w="sm" len="sm"/>
            <a:tailEnd type="arrow" w="med" len="sm"/>
          </a:ln>
        </p:spPr>
      </p:sp>
      <p:grpSp>
        <p:nvGrpSpPr>
          <p:cNvPr id="36" name="Group 36"/>
          <p:cNvGrpSpPr/>
          <p:nvPr/>
        </p:nvGrpSpPr>
        <p:grpSpPr>
          <a:xfrm>
            <a:off x="12287250" y="8191500"/>
            <a:ext cx="2190750" cy="952500"/>
            <a:chOff x="0" y="0"/>
            <a:chExt cx="2921000" cy="1270000"/>
          </a:xfrm>
        </p:grpSpPr>
        <p:sp>
          <p:nvSpPr>
            <p:cNvPr id="37" name="Freeform 37"/>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35215E"/>
            </a:solidFill>
            <a:ln cap="sq">
              <a:noFill/>
              <a:prstDash val="solid"/>
              <a:miter/>
            </a:ln>
          </p:spPr>
        </p:sp>
        <p:sp>
          <p:nvSpPr>
            <p:cNvPr id="38" name="TextBox 38"/>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RRF</a:t>
              </a:r>
            </a:p>
          </p:txBody>
        </p:sp>
      </p:grpSp>
      <p:sp>
        <p:nvSpPr>
          <p:cNvPr id="39" name="AutoShape 39"/>
          <p:cNvSpPr/>
          <p:nvPr/>
        </p:nvSpPr>
        <p:spPr>
          <a:xfrm>
            <a:off x="14478000" y="8667750"/>
            <a:ext cx="590550" cy="0"/>
          </a:xfrm>
          <a:prstGeom prst="line">
            <a:avLst/>
          </a:prstGeom>
          <a:ln w="38100" cap="rnd">
            <a:solidFill>
              <a:srgbClr val="20D8EE"/>
            </a:solidFill>
            <a:prstDash val="solid"/>
            <a:headEnd type="none" w="sm" len="sm"/>
            <a:tailEnd type="arrow" w="med" len="sm"/>
          </a:ln>
        </p:spPr>
      </p:sp>
      <p:grpSp>
        <p:nvGrpSpPr>
          <p:cNvPr id="40" name="Group 40"/>
          <p:cNvGrpSpPr/>
          <p:nvPr/>
        </p:nvGrpSpPr>
        <p:grpSpPr>
          <a:xfrm>
            <a:off x="15144750" y="8191500"/>
            <a:ext cx="2190750" cy="952500"/>
            <a:chOff x="0" y="0"/>
            <a:chExt cx="2921000" cy="1270000"/>
          </a:xfrm>
        </p:grpSpPr>
        <p:sp>
          <p:nvSpPr>
            <p:cNvPr id="41" name="Freeform 41"/>
            <p:cNvSpPr/>
            <p:nvPr/>
          </p:nvSpPr>
          <p:spPr>
            <a:xfrm>
              <a:off x="0" y="0"/>
              <a:ext cx="2921000" cy="1270000"/>
            </a:xfrm>
            <a:custGeom>
              <a:avLst/>
              <a:gdLst/>
              <a:ahLst/>
              <a:cxnLst/>
              <a:rect l="l" t="t" r="r" b="b"/>
              <a:pathLst>
                <a:path w="2921000" h="1270000">
                  <a:moveTo>
                    <a:pt x="99391" y="0"/>
                  </a:moveTo>
                  <a:lnTo>
                    <a:pt x="2821609" y="0"/>
                  </a:lnTo>
                  <a:cubicBezTo>
                    <a:pt x="2876501" y="0"/>
                    <a:pt x="2921000" y="44499"/>
                    <a:pt x="2921000" y="99391"/>
                  </a:cubicBezTo>
                  <a:lnTo>
                    <a:pt x="2921000" y="1170609"/>
                  </a:lnTo>
                  <a:cubicBezTo>
                    <a:pt x="2921000" y="1225501"/>
                    <a:pt x="2876501" y="1270000"/>
                    <a:pt x="2821609" y="1270000"/>
                  </a:cubicBezTo>
                  <a:lnTo>
                    <a:pt x="99391" y="1270000"/>
                  </a:lnTo>
                  <a:cubicBezTo>
                    <a:pt x="44499" y="1270000"/>
                    <a:pt x="0" y="1225501"/>
                    <a:pt x="0" y="1170609"/>
                  </a:cubicBezTo>
                  <a:lnTo>
                    <a:pt x="0" y="99391"/>
                  </a:lnTo>
                  <a:cubicBezTo>
                    <a:pt x="0" y="44499"/>
                    <a:pt x="44499" y="0"/>
                    <a:pt x="99391" y="0"/>
                  </a:cubicBezTo>
                  <a:close/>
                </a:path>
              </a:pathLst>
            </a:custGeom>
            <a:solidFill>
              <a:srgbClr val="123A5C"/>
            </a:solidFill>
            <a:ln cap="sq">
              <a:noFill/>
              <a:prstDash val="solid"/>
              <a:miter/>
            </a:ln>
          </p:spPr>
        </p:sp>
        <p:sp>
          <p:nvSpPr>
            <p:cNvPr id="42" name="TextBox 42"/>
            <p:cNvSpPr txBox="1"/>
            <p:nvPr/>
          </p:nvSpPr>
          <p:spPr>
            <a:xfrm>
              <a:off x="0" y="-19050"/>
              <a:ext cx="2921000" cy="1289050"/>
            </a:xfrm>
            <a:prstGeom prst="rect">
              <a:avLst/>
            </a:prstGeom>
          </p:spPr>
          <p:txBody>
            <a:bodyPr lIns="50800" tIns="50800" rIns="50800" bIns="50800" rtlCol="0" anchor="ctr"/>
            <a:lstStyle/>
            <a:p>
              <a:pPr algn="ctr">
                <a:lnSpc>
                  <a:spcPts val="1811"/>
                </a:lnSpc>
              </a:pPr>
              <a:r>
                <a:rPr lang="en-US" sz="1725" b="1">
                  <a:solidFill>
                    <a:srgbClr val="F5F8FF"/>
                  </a:solidFill>
                  <a:latin typeface="Akzidenz-Grotesk Bold"/>
                  <a:ea typeface="Akzidenz-Grotesk Bold"/>
                  <a:cs typeface="Akzidenz-Grotesk Bold"/>
                  <a:sym typeface="Akzidenz-Grotesk Bold"/>
                </a:rPr>
                <a:t>GEMINI</a:t>
              </a:r>
            </a:p>
          </p:txBody>
        </p:sp>
      </p:grpSp>
      <p:sp>
        <p:nvSpPr>
          <p:cNvPr id="43" name="Freeform 43"/>
          <p:cNvSpPr/>
          <p:nvPr/>
        </p:nvSpPr>
        <p:spPr>
          <a:xfrm>
            <a:off x="857250" y="2190750"/>
            <a:ext cx="9044453" cy="5652783"/>
          </a:xfrm>
          <a:custGeom>
            <a:avLst/>
            <a:gdLst/>
            <a:ahLst/>
            <a:cxnLst/>
            <a:rect l="l" t="t" r="r" b="b"/>
            <a:pathLst>
              <a:path w="9044453" h="5652783">
                <a:moveTo>
                  <a:pt x="0" y="0"/>
                </a:moveTo>
                <a:lnTo>
                  <a:pt x="9044453" y="0"/>
                </a:lnTo>
                <a:lnTo>
                  <a:pt x="9044453" y="5652783"/>
                </a:lnTo>
                <a:lnTo>
                  <a:pt x="0" y="5652783"/>
                </a:lnTo>
                <a:lnTo>
                  <a:pt x="0" y="0"/>
                </a:lnTo>
                <a:close/>
              </a:path>
            </a:pathLst>
          </a:custGeom>
          <a:blipFill>
            <a:blip r:embed="rId2"/>
            <a:stretch>
              <a:fillRect/>
            </a:stretch>
          </a:blipFill>
        </p:spPr>
      </p:sp>
      <p:sp>
        <p:nvSpPr>
          <p:cNvPr id="44" name="TextBox 44"/>
          <p:cNvSpPr txBox="1"/>
          <p:nvPr/>
        </p:nvSpPr>
        <p:spPr>
          <a:xfrm>
            <a:off x="876300" y="523875"/>
            <a:ext cx="9334500" cy="1259967"/>
          </a:xfrm>
          <a:prstGeom prst="rect">
            <a:avLst/>
          </a:prstGeom>
        </p:spPr>
        <p:txBody>
          <a:bodyPr lIns="0" tIns="0" rIns="0" bIns="0" rtlCol="0" anchor="t">
            <a:spAutoFit/>
          </a:bodyPr>
          <a:lstStyle/>
          <a:p>
            <a:pPr algn="l">
              <a:lnSpc>
                <a:spcPts val="4524"/>
              </a:lnSpc>
            </a:pPr>
            <a:r>
              <a:rPr lang="en-US" sz="4350" b="1">
                <a:solidFill>
                  <a:srgbClr val="F5F8FF"/>
                </a:solidFill>
                <a:latin typeface="Akzidenz-Grotesk Bold"/>
                <a:ea typeface="Akzidenz-Grotesk Bold"/>
                <a:cs typeface="Akzidenz-Grotesk Bold"/>
                <a:sym typeface="Akzidenz-Grotesk Bold"/>
              </a:rPr>
              <a:t>HOW MONGODB POWERS</a:t>
            </a:r>
          </a:p>
          <a:p>
            <a:pPr algn="l">
              <a:lnSpc>
                <a:spcPts val="4524"/>
              </a:lnSpc>
            </a:pPr>
            <a:r>
              <a:rPr lang="en-US" sz="4350" b="1">
                <a:solidFill>
                  <a:srgbClr val="F5F8FF"/>
                </a:solidFill>
                <a:latin typeface="Akzidenz-Grotesk Bold"/>
                <a:ea typeface="Akzidenz-Grotesk Bold"/>
                <a:cs typeface="Akzidenz-Grotesk Bold"/>
                <a:sym typeface="Akzidenz-Grotesk Bold"/>
              </a:rPr>
              <a:t>OUR RAG SYSTEM</a:t>
            </a:r>
          </a:p>
        </p:txBody>
      </p:sp>
      <p:sp>
        <p:nvSpPr>
          <p:cNvPr id="45" name="TextBox 45"/>
          <p:cNvSpPr txBox="1"/>
          <p:nvPr/>
        </p:nvSpPr>
        <p:spPr>
          <a:xfrm>
            <a:off x="10287000" y="828675"/>
            <a:ext cx="4762500" cy="232410"/>
          </a:xfrm>
          <a:prstGeom prst="rect">
            <a:avLst/>
          </a:prstGeom>
        </p:spPr>
        <p:txBody>
          <a:bodyPr lIns="0" tIns="0" rIns="0" bIns="0" rtlCol="0" anchor="t">
            <a:spAutoFit/>
          </a:bodyPr>
          <a:lstStyle/>
          <a:p>
            <a:pPr algn="l">
              <a:lnSpc>
                <a:spcPts val="1889"/>
              </a:lnSpc>
            </a:pPr>
            <a:r>
              <a:rPr lang="en-US" sz="1350" b="1" spc="108">
                <a:solidFill>
                  <a:srgbClr val="39D98A"/>
                </a:solidFill>
                <a:latin typeface="IBM Plex Mono Bold"/>
                <a:ea typeface="IBM Plex Mono Bold"/>
                <a:cs typeface="IBM Plex Mono Bold"/>
                <a:sym typeface="IBM Plex Mono Bold"/>
              </a:rPr>
              <a:t>WHAT ATLAS STORES</a:t>
            </a:r>
          </a:p>
        </p:txBody>
      </p:sp>
      <p:sp>
        <p:nvSpPr>
          <p:cNvPr id="46" name="TextBox 45">
            <a:extLst>
              <a:ext uri="{FF2B5EF4-FFF2-40B4-BE49-F238E27FC236}">
                <a16:creationId xmlns:a16="http://schemas.microsoft.com/office/drawing/2014/main" id="{323404E1-399F-0D90-292B-C72F7A67630C}"/>
              </a:ext>
            </a:extLst>
          </p:cNvPr>
          <p:cNvSpPr txBox="1"/>
          <p:nvPr/>
        </p:nvSpPr>
        <p:spPr>
          <a:xfrm>
            <a:off x="10264910" y="4546835"/>
            <a:ext cx="6803890" cy="3724096"/>
          </a:xfrm>
          <a:prstGeom prst="rect">
            <a:avLst/>
          </a:prstGeom>
          <a:noFill/>
        </p:spPr>
        <p:txBody>
          <a:bodyPr wrap="square" rtlCol="0">
            <a:spAutoFit/>
          </a:bodyPr>
          <a:lstStyle/>
          <a:p>
            <a:r>
              <a:rPr lang="en-IN" sz="2800" b="1" dirty="0">
                <a:solidFill>
                  <a:schemeClr val="bg1"/>
                </a:solidFill>
              </a:rPr>
              <a:t>1. Repos Collection</a:t>
            </a:r>
            <a:r>
              <a:rPr lang="en-IN" sz="2000" b="1" dirty="0">
                <a:solidFill>
                  <a:schemeClr val="bg1"/>
                </a:solidFill>
              </a:rPr>
              <a:t>:</a:t>
            </a:r>
            <a:r>
              <a:rPr lang="en-IN" sz="2000" dirty="0">
                <a:solidFill>
                  <a:schemeClr val="bg1"/>
                </a:solidFill>
              </a:rPr>
              <a:t> Stores repository-level metadata, including GitHub URL, owner, repository name, branch, processing status, file count, chunk count, and error information. It tracks the repository's indexing and processing progress.</a:t>
            </a:r>
          </a:p>
          <a:p>
            <a:r>
              <a:rPr lang="en-IN" sz="2800" b="1" dirty="0">
                <a:solidFill>
                  <a:schemeClr val="bg1"/>
                </a:solidFill>
              </a:rPr>
              <a:t>2. Chunks Collection:</a:t>
            </a:r>
            <a:r>
              <a:rPr lang="en-IN" sz="2800" dirty="0">
                <a:solidFill>
                  <a:schemeClr val="bg1"/>
                </a:solidFill>
              </a:rPr>
              <a:t> </a:t>
            </a:r>
            <a:r>
              <a:rPr lang="en-IN" sz="2000" dirty="0">
                <a:solidFill>
                  <a:schemeClr val="bg1"/>
                </a:solidFill>
              </a:rPr>
              <a:t>Stores code divided into smaller, searchable chunks, along with repository references, file paths, line ranges, and Gemini-generated embedding vectors. These chunks enable </a:t>
            </a:r>
            <a:r>
              <a:rPr lang="en-IN" sz="2000" b="1" dirty="0">
                <a:solidFill>
                  <a:schemeClr val="bg1"/>
                </a:solidFill>
              </a:rPr>
              <a:t>Vector Search, Atlas Search, cross-file retrieval, and source-level citations</a:t>
            </a:r>
            <a:r>
              <a:rPr lang="en-IN" sz="2000" dirty="0">
                <a:solidFill>
                  <a:schemeClr val="bg1"/>
                </a:solidFill>
              </a:rPr>
              <a:t> for evidence-grounded answers.</a:t>
            </a:r>
          </a:p>
          <a:p>
            <a:endParaRPr lang="en-IN" sz="2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TextBox 2"/>
          <p:cNvSpPr txBox="1"/>
          <p:nvPr/>
        </p:nvSpPr>
        <p:spPr>
          <a:xfrm>
            <a:off x="933450" y="365379"/>
            <a:ext cx="11430000" cy="688467"/>
          </a:xfrm>
          <a:prstGeom prst="rect">
            <a:avLst/>
          </a:prstGeom>
        </p:spPr>
        <p:txBody>
          <a:bodyPr lIns="0" tIns="0" rIns="0" bIns="0" rtlCol="0" anchor="t">
            <a:spAutoFit/>
          </a:bodyPr>
          <a:lstStyle/>
          <a:p>
            <a:pPr algn="l">
              <a:lnSpc>
                <a:spcPts val="4524"/>
              </a:lnSpc>
            </a:pPr>
            <a:r>
              <a:rPr lang="en-US" sz="4350" b="1" dirty="0">
                <a:solidFill>
                  <a:srgbClr val="F5F8FF"/>
                </a:solidFill>
                <a:latin typeface="Akzidenz-Grotesk Bold"/>
                <a:ea typeface="Akzidenz-Grotesk Bold"/>
                <a:cs typeface="Akzidenz-Grotesk Bold"/>
                <a:sym typeface="Akzidenz-Grotesk Bold"/>
              </a:rPr>
              <a:t>BEYOND SIMPLE CODE SEARCH</a:t>
            </a:r>
          </a:p>
        </p:txBody>
      </p:sp>
      <p:grpSp>
        <p:nvGrpSpPr>
          <p:cNvPr id="10" name="Group 10"/>
          <p:cNvGrpSpPr/>
          <p:nvPr/>
        </p:nvGrpSpPr>
        <p:grpSpPr>
          <a:xfrm>
            <a:off x="13641218" y="5422969"/>
            <a:ext cx="3381375" cy="1285875"/>
            <a:chOff x="0" y="0"/>
            <a:chExt cx="4508500" cy="1714500"/>
          </a:xfrm>
        </p:grpSpPr>
        <p:grpSp>
          <p:nvGrpSpPr>
            <p:cNvPr id="11" name="Group 11"/>
            <p:cNvGrpSpPr/>
            <p:nvPr/>
          </p:nvGrpSpPr>
          <p:grpSpPr>
            <a:xfrm>
              <a:off x="0" y="0"/>
              <a:ext cx="4508500" cy="1714500"/>
              <a:chOff x="0" y="0"/>
              <a:chExt cx="4508500" cy="1714500"/>
            </a:xfrm>
          </p:grpSpPr>
          <p:sp>
            <p:nvSpPr>
              <p:cNvPr id="12" name="Freeform 12"/>
              <p:cNvSpPr/>
              <p:nvPr/>
            </p:nvSpPr>
            <p:spPr>
              <a:xfrm>
                <a:off x="0" y="0"/>
                <a:ext cx="4508500" cy="1714500"/>
              </a:xfrm>
              <a:custGeom>
                <a:avLst/>
                <a:gdLst/>
                <a:ahLst/>
                <a:cxnLst/>
                <a:rect l="l" t="t" r="r" b="b"/>
                <a:pathLst>
                  <a:path w="4508500" h="1714500">
                    <a:moveTo>
                      <a:pt x="0" y="0"/>
                    </a:moveTo>
                    <a:lnTo>
                      <a:pt x="4508500" y="0"/>
                    </a:lnTo>
                    <a:lnTo>
                      <a:pt x="4508500" y="1714500"/>
                    </a:lnTo>
                    <a:lnTo>
                      <a:pt x="0" y="1714500"/>
                    </a:lnTo>
                    <a:close/>
                  </a:path>
                </a:pathLst>
              </a:custGeom>
              <a:solidFill>
                <a:srgbClr val="101C31"/>
              </a:solidFill>
              <a:ln w="19050" cap="sq">
                <a:solidFill>
                  <a:srgbClr val="29405F"/>
                </a:solidFill>
                <a:prstDash val="solid"/>
                <a:miter/>
              </a:ln>
            </p:spPr>
          </p:sp>
          <p:sp>
            <p:nvSpPr>
              <p:cNvPr id="13" name="TextBox 13"/>
              <p:cNvSpPr txBox="1"/>
              <p:nvPr/>
            </p:nvSpPr>
            <p:spPr>
              <a:xfrm>
                <a:off x="0" y="-38100"/>
                <a:ext cx="4508500" cy="1752600"/>
              </a:xfrm>
              <a:prstGeom prst="rect">
                <a:avLst/>
              </a:prstGeom>
            </p:spPr>
            <p:txBody>
              <a:bodyPr lIns="50800" tIns="50800" rIns="50800" bIns="50800" rtlCol="0" anchor="ctr"/>
              <a:lstStyle/>
              <a:p>
                <a:pPr algn="l">
                  <a:lnSpc>
                    <a:spcPts val="1679"/>
                  </a:lnSpc>
                </a:pPr>
                <a:endParaRPr/>
              </a:p>
            </p:txBody>
          </p:sp>
        </p:grpSp>
        <p:sp>
          <p:nvSpPr>
            <p:cNvPr id="14" name="TextBox 14"/>
            <p:cNvSpPr txBox="1"/>
            <p:nvPr/>
          </p:nvSpPr>
          <p:spPr>
            <a:xfrm>
              <a:off x="317500" y="412750"/>
              <a:ext cx="3873500" cy="808482"/>
            </a:xfrm>
            <a:prstGeom prst="rect">
              <a:avLst/>
            </a:prstGeom>
          </p:spPr>
          <p:txBody>
            <a:bodyPr lIns="0" tIns="0" rIns="0" bIns="0" rtlCol="0" anchor="t">
              <a:spAutoFit/>
            </a:bodyPr>
            <a:lstStyle/>
            <a:p>
              <a:pPr algn="l">
                <a:lnSpc>
                  <a:spcPts val="2268"/>
                </a:lnSpc>
              </a:pPr>
              <a:r>
                <a:rPr lang="en-US" sz="2025" b="1" dirty="0">
                  <a:solidFill>
                    <a:srgbClr val="9B6CFF"/>
                  </a:solidFill>
                  <a:latin typeface="Akzidenz-Grotesk Bold"/>
                  <a:ea typeface="Akzidenz-Grotesk Bold"/>
                  <a:cs typeface="Akzidenz-Grotesk Bold"/>
                  <a:sym typeface="Akzidenz-Grotesk Bold"/>
                </a:rPr>
                <a:t>Cross-File</a:t>
              </a:r>
            </a:p>
            <a:p>
              <a:pPr algn="l">
                <a:lnSpc>
                  <a:spcPts val="2268"/>
                </a:lnSpc>
              </a:pPr>
              <a:r>
                <a:rPr lang="en-US" sz="2025" b="1" dirty="0">
                  <a:solidFill>
                    <a:srgbClr val="9B6CFF"/>
                  </a:solidFill>
                  <a:latin typeface="Akzidenz-Grotesk Bold"/>
                  <a:ea typeface="Akzidenz-Grotesk Bold"/>
                  <a:cs typeface="Akzidenz-Grotesk Bold"/>
                  <a:sym typeface="Akzidenz-Grotesk Bold"/>
                </a:rPr>
                <a:t>Reasoning</a:t>
              </a:r>
            </a:p>
          </p:txBody>
        </p:sp>
      </p:grpSp>
      <p:grpSp>
        <p:nvGrpSpPr>
          <p:cNvPr id="15" name="Group 15"/>
          <p:cNvGrpSpPr/>
          <p:nvPr/>
        </p:nvGrpSpPr>
        <p:grpSpPr>
          <a:xfrm>
            <a:off x="13699179" y="1978390"/>
            <a:ext cx="3381375" cy="1285875"/>
            <a:chOff x="0" y="0"/>
            <a:chExt cx="4508500" cy="1714500"/>
          </a:xfrm>
        </p:grpSpPr>
        <p:grpSp>
          <p:nvGrpSpPr>
            <p:cNvPr id="16" name="Group 16"/>
            <p:cNvGrpSpPr/>
            <p:nvPr/>
          </p:nvGrpSpPr>
          <p:grpSpPr>
            <a:xfrm>
              <a:off x="0" y="0"/>
              <a:ext cx="4508500" cy="1714500"/>
              <a:chOff x="0" y="0"/>
              <a:chExt cx="4508500" cy="1714500"/>
            </a:xfrm>
          </p:grpSpPr>
          <p:sp>
            <p:nvSpPr>
              <p:cNvPr id="17" name="Freeform 17"/>
              <p:cNvSpPr/>
              <p:nvPr/>
            </p:nvSpPr>
            <p:spPr>
              <a:xfrm>
                <a:off x="0" y="0"/>
                <a:ext cx="4508500" cy="1714500"/>
              </a:xfrm>
              <a:custGeom>
                <a:avLst/>
                <a:gdLst/>
                <a:ahLst/>
                <a:cxnLst/>
                <a:rect l="l" t="t" r="r" b="b"/>
                <a:pathLst>
                  <a:path w="4508500" h="1714500">
                    <a:moveTo>
                      <a:pt x="0" y="0"/>
                    </a:moveTo>
                    <a:lnTo>
                      <a:pt x="4508500" y="0"/>
                    </a:lnTo>
                    <a:lnTo>
                      <a:pt x="4508500" y="1714500"/>
                    </a:lnTo>
                    <a:lnTo>
                      <a:pt x="0" y="1714500"/>
                    </a:lnTo>
                    <a:close/>
                  </a:path>
                </a:pathLst>
              </a:custGeom>
              <a:solidFill>
                <a:srgbClr val="101C31"/>
              </a:solidFill>
              <a:ln w="19050" cap="sq">
                <a:solidFill>
                  <a:srgbClr val="29405F"/>
                </a:solidFill>
                <a:prstDash val="solid"/>
                <a:miter/>
              </a:ln>
            </p:spPr>
          </p:sp>
          <p:sp>
            <p:nvSpPr>
              <p:cNvPr id="18" name="TextBox 18"/>
              <p:cNvSpPr txBox="1"/>
              <p:nvPr/>
            </p:nvSpPr>
            <p:spPr>
              <a:xfrm>
                <a:off x="0" y="-38100"/>
                <a:ext cx="4508500" cy="1752600"/>
              </a:xfrm>
              <a:prstGeom prst="rect">
                <a:avLst/>
              </a:prstGeom>
            </p:spPr>
            <p:txBody>
              <a:bodyPr lIns="50800" tIns="50800" rIns="50800" bIns="50800" rtlCol="0" anchor="ctr"/>
              <a:lstStyle/>
              <a:p>
                <a:pPr algn="l">
                  <a:lnSpc>
                    <a:spcPts val="1679"/>
                  </a:lnSpc>
                </a:pPr>
                <a:endParaRPr/>
              </a:p>
            </p:txBody>
          </p:sp>
        </p:grpSp>
        <p:sp>
          <p:nvSpPr>
            <p:cNvPr id="19" name="TextBox 19"/>
            <p:cNvSpPr txBox="1"/>
            <p:nvPr/>
          </p:nvSpPr>
          <p:spPr>
            <a:xfrm>
              <a:off x="317500" y="412750"/>
              <a:ext cx="3873500" cy="808482"/>
            </a:xfrm>
            <a:prstGeom prst="rect">
              <a:avLst/>
            </a:prstGeom>
          </p:spPr>
          <p:txBody>
            <a:bodyPr lIns="0" tIns="0" rIns="0" bIns="0" rtlCol="0" anchor="t">
              <a:spAutoFit/>
            </a:bodyPr>
            <a:lstStyle/>
            <a:p>
              <a:pPr algn="l">
                <a:lnSpc>
                  <a:spcPts val="2268"/>
                </a:lnSpc>
              </a:pPr>
              <a:r>
                <a:rPr lang="en-US" sz="2025" b="1" dirty="0">
                  <a:solidFill>
                    <a:srgbClr val="39D98A"/>
                  </a:solidFill>
                  <a:latin typeface="Akzidenz-Grotesk Bold"/>
                  <a:ea typeface="Akzidenz-Grotesk Bold"/>
                  <a:cs typeface="Akzidenz-Grotesk Bold"/>
                  <a:sym typeface="Akzidenz-Grotesk Bold"/>
                </a:rPr>
                <a:t>Evidence-Based</a:t>
              </a:r>
            </a:p>
            <a:p>
              <a:pPr algn="l">
                <a:lnSpc>
                  <a:spcPts val="2268"/>
                </a:lnSpc>
              </a:pPr>
              <a:r>
                <a:rPr lang="en-US" sz="2025" b="1" dirty="0">
                  <a:solidFill>
                    <a:srgbClr val="39D98A"/>
                  </a:solidFill>
                  <a:latin typeface="Akzidenz-Grotesk Bold"/>
                  <a:ea typeface="Akzidenz-Grotesk Bold"/>
                  <a:cs typeface="Akzidenz-Grotesk Bold"/>
                  <a:sym typeface="Akzidenz-Grotesk Bold"/>
                </a:rPr>
                <a:t>Answers</a:t>
              </a:r>
            </a:p>
          </p:txBody>
        </p:sp>
      </p:grpSp>
      <p:grpSp>
        <p:nvGrpSpPr>
          <p:cNvPr id="20" name="Group 20"/>
          <p:cNvGrpSpPr/>
          <p:nvPr/>
        </p:nvGrpSpPr>
        <p:grpSpPr>
          <a:xfrm>
            <a:off x="13699179" y="3746649"/>
            <a:ext cx="3381375" cy="1285875"/>
            <a:chOff x="0" y="0"/>
            <a:chExt cx="4508500" cy="1714500"/>
          </a:xfrm>
        </p:grpSpPr>
        <p:grpSp>
          <p:nvGrpSpPr>
            <p:cNvPr id="21" name="Group 21"/>
            <p:cNvGrpSpPr/>
            <p:nvPr/>
          </p:nvGrpSpPr>
          <p:grpSpPr>
            <a:xfrm>
              <a:off x="0" y="0"/>
              <a:ext cx="4508500" cy="1714500"/>
              <a:chOff x="0" y="0"/>
              <a:chExt cx="4508500" cy="1714500"/>
            </a:xfrm>
          </p:grpSpPr>
          <p:sp>
            <p:nvSpPr>
              <p:cNvPr id="22" name="Freeform 22"/>
              <p:cNvSpPr/>
              <p:nvPr/>
            </p:nvSpPr>
            <p:spPr>
              <a:xfrm>
                <a:off x="0" y="0"/>
                <a:ext cx="4508500" cy="1714500"/>
              </a:xfrm>
              <a:custGeom>
                <a:avLst/>
                <a:gdLst/>
                <a:ahLst/>
                <a:cxnLst/>
                <a:rect l="l" t="t" r="r" b="b"/>
                <a:pathLst>
                  <a:path w="4508500" h="1714500">
                    <a:moveTo>
                      <a:pt x="0" y="0"/>
                    </a:moveTo>
                    <a:lnTo>
                      <a:pt x="4508500" y="0"/>
                    </a:lnTo>
                    <a:lnTo>
                      <a:pt x="4508500" y="1714500"/>
                    </a:lnTo>
                    <a:lnTo>
                      <a:pt x="0" y="1714500"/>
                    </a:lnTo>
                    <a:close/>
                  </a:path>
                </a:pathLst>
              </a:custGeom>
              <a:solidFill>
                <a:srgbClr val="101C31"/>
              </a:solidFill>
              <a:ln w="19050" cap="sq">
                <a:solidFill>
                  <a:srgbClr val="29405F"/>
                </a:solidFill>
                <a:prstDash val="solid"/>
                <a:miter/>
              </a:ln>
            </p:spPr>
          </p:sp>
          <p:sp>
            <p:nvSpPr>
              <p:cNvPr id="23" name="TextBox 23"/>
              <p:cNvSpPr txBox="1"/>
              <p:nvPr/>
            </p:nvSpPr>
            <p:spPr>
              <a:xfrm>
                <a:off x="0" y="-38100"/>
                <a:ext cx="4508500" cy="1752600"/>
              </a:xfrm>
              <a:prstGeom prst="rect">
                <a:avLst/>
              </a:prstGeom>
            </p:spPr>
            <p:txBody>
              <a:bodyPr lIns="50800" tIns="50800" rIns="50800" bIns="50800" rtlCol="0" anchor="ctr"/>
              <a:lstStyle/>
              <a:p>
                <a:pPr algn="l">
                  <a:lnSpc>
                    <a:spcPts val="1679"/>
                  </a:lnSpc>
                </a:pPr>
                <a:endParaRPr/>
              </a:p>
            </p:txBody>
          </p:sp>
        </p:grpSp>
        <p:sp>
          <p:nvSpPr>
            <p:cNvPr id="24" name="TextBox 24"/>
            <p:cNvSpPr txBox="1"/>
            <p:nvPr/>
          </p:nvSpPr>
          <p:spPr>
            <a:xfrm>
              <a:off x="317500" y="412750"/>
              <a:ext cx="3873500" cy="427482"/>
            </a:xfrm>
            <a:prstGeom prst="rect">
              <a:avLst/>
            </a:prstGeom>
          </p:spPr>
          <p:txBody>
            <a:bodyPr lIns="0" tIns="0" rIns="0" bIns="0" rtlCol="0" anchor="t">
              <a:spAutoFit/>
            </a:bodyPr>
            <a:lstStyle/>
            <a:p>
              <a:pPr algn="l">
                <a:lnSpc>
                  <a:spcPts val="2268"/>
                </a:lnSpc>
              </a:pPr>
              <a:r>
                <a:rPr lang="en-US" sz="2025" b="1">
                  <a:solidFill>
                    <a:srgbClr val="20D8EE"/>
                  </a:solidFill>
                  <a:latin typeface="Akzidenz-Grotesk Bold"/>
                  <a:ea typeface="Akzidenz-Grotesk Bold"/>
                  <a:cs typeface="Akzidenz-Grotesk Bold"/>
                  <a:sym typeface="Akzidenz-Grotesk Bold"/>
                </a:rPr>
                <a:t>Source Citations</a:t>
              </a:r>
            </a:p>
          </p:txBody>
        </p:sp>
      </p:grpSp>
      <p:grpSp>
        <p:nvGrpSpPr>
          <p:cNvPr id="25" name="Group 25"/>
          <p:cNvGrpSpPr/>
          <p:nvPr/>
        </p:nvGrpSpPr>
        <p:grpSpPr>
          <a:xfrm>
            <a:off x="13692694" y="249926"/>
            <a:ext cx="3238500" cy="1285875"/>
            <a:chOff x="0" y="0"/>
            <a:chExt cx="4318000" cy="1714500"/>
          </a:xfrm>
        </p:grpSpPr>
        <p:grpSp>
          <p:nvGrpSpPr>
            <p:cNvPr id="26" name="Group 26"/>
            <p:cNvGrpSpPr/>
            <p:nvPr/>
          </p:nvGrpSpPr>
          <p:grpSpPr>
            <a:xfrm>
              <a:off x="0" y="0"/>
              <a:ext cx="4318000" cy="1714500"/>
              <a:chOff x="0" y="0"/>
              <a:chExt cx="4318000" cy="1714500"/>
            </a:xfrm>
          </p:grpSpPr>
          <p:sp>
            <p:nvSpPr>
              <p:cNvPr id="27" name="Freeform 27"/>
              <p:cNvSpPr/>
              <p:nvPr/>
            </p:nvSpPr>
            <p:spPr>
              <a:xfrm>
                <a:off x="0" y="0"/>
                <a:ext cx="4318000" cy="1714500"/>
              </a:xfrm>
              <a:custGeom>
                <a:avLst/>
                <a:gdLst/>
                <a:ahLst/>
                <a:cxnLst/>
                <a:rect l="l" t="t" r="r" b="b"/>
                <a:pathLst>
                  <a:path w="4318000" h="1714500">
                    <a:moveTo>
                      <a:pt x="0" y="0"/>
                    </a:moveTo>
                    <a:lnTo>
                      <a:pt x="4318000" y="0"/>
                    </a:lnTo>
                    <a:lnTo>
                      <a:pt x="4318000" y="1714500"/>
                    </a:lnTo>
                    <a:lnTo>
                      <a:pt x="0" y="1714500"/>
                    </a:lnTo>
                    <a:close/>
                  </a:path>
                </a:pathLst>
              </a:custGeom>
              <a:solidFill>
                <a:srgbClr val="101C31"/>
              </a:solidFill>
              <a:ln w="19050" cap="sq">
                <a:solidFill>
                  <a:srgbClr val="29405F"/>
                </a:solidFill>
                <a:prstDash val="solid"/>
                <a:miter/>
              </a:ln>
            </p:spPr>
          </p:sp>
          <p:sp>
            <p:nvSpPr>
              <p:cNvPr id="28" name="TextBox 28"/>
              <p:cNvSpPr txBox="1"/>
              <p:nvPr/>
            </p:nvSpPr>
            <p:spPr>
              <a:xfrm>
                <a:off x="0" y="-38100"/>
                <a:ext cx="4318000" cy="1752600"/>
              </a:xfrm>
              <a:prstGeom prst="rect">
                <a:avLst/>
              </a:prstGeom>
            </p:spPr>
            <p:txBody>
              <a:bodyPr lIns="50800" tIns="50800" rIns="50800" bIns="50800" rtlCol="0" anchor="ctr"/>
              <a:lstStyle/>
              <a:p>
                <a:pPr algn="l">
                  <a:lnSpc>
                    <a:spcPts val="1679"/>
                  </a:lnSpc>
                </a:pPr>
                <a:endParaRPr/>
              </a:p>
            </p:txBody>
          </p:sp>
        </p:grpSp>
        <p:sp>
          <p:nvSpPr>
            <p:cNvPr id="29" name="TextBox 29"/>
            <p:cNvSpPr txBox="1"/>
            <p:nvPr/>
          </p:nvSpPr>
          <p:spPr>
            <a:xfrm>
              <a:off x="317500" y="412750"/>
              <a:ext cx="3683000" cy="808482"/>
            </a:xfrm>
            <a:prstGeom prst="rect">
              <a:avLst/>
            </a:prstGeom>
          </p:spPr>
          <p:txBody>
            <a:bodyPr lIns="0" tIns="0" rIns="0" bIns="0" rtlCol="0" anchor="t">
              <a:spAutoFit/>
            </a:bodyPr>
            <a:lstStyle/>
            <a:p>
              <a:pPr algn="ctr">
                <a:lnSpc>
                  <a:spcPts val="2268"/>
                </a:lnSpc>
              </a:pPr>
              <a:r>
                <a:rPr lang="en-US" sz="2025" b="1" dirty="0">
                  <a:solidFill>
                    <a:srgbClr val="4C7DFF"/>
                  </a:solidFill>
                  <a:latin typeface="Akzidenz-Grotesk Bold"/>
                  <a:ea typeface="Akzidenz-Grotesk Bold"/>
                  <a:cs typeface="Akzidenz-Grotesk Bold"/>
                  <a:sym typeface="Akzidenz-Grotesk Bold"/>
                </a:rPr>
                <a:t>Repository</a:t>
              </a:r>
            </a:p>
            <a:p>
              <a:pPr algn="ctr">
                <a:lnSpc>
                  <a:spcPts val="2268"/>
                </a:lnSpc>
              </a:pPr>
              <a:r>
                <a:rPr lang="en-US" sz="2025" b="1" dirty="0">
                  <a:solidFill>
                    <a:srgbClr val="4C7DFF"/>
                  </a:solidFill>
                  <a:latin typeface="Akzidenz-Grotesk Bold"/>
                  <a:ea typeface="Akzidenz-Grotesk Bold"/>
                  <a:cs typeface="Akzidenz-Grotesk Bold"/>
                  <a:sym typeface="Akzidenz-Grotesk Bold"/>
                </a:rPr>
                <a:t>Exploration</a:t>
              </a:r>
            </a:p>
          </p:txBody>
        </p:sp>
      </p:grpSp>
      <p:sp>
        <p:nvSpPr>
          <p:cNvPr id="30" name="TextBox 29">
            <a:extLst>
              <a:ext uri="{FF2B5EF4-FFF2-40B4-BE49-F238E27FC236}">
                <a16:creationId xmlns:a16="http://schemas.microsoft.com/office/drawing/2014/main" id="{9C8A9992-C388-17FE-0261-B4723A2EAC37}"/>
              </a:ext>
            </a:extLst>
          </p:cNvPr>
          <p:cNvSpPr txBox="1"/>
          <p:nvPr/>
        </p:nvSpPr>
        <p:spPr>
          <a:xfrm>
            <a:off x="848400" y="7366976"/>
            <a:ext cx="17287200" cy="3231654"/>
          </a:xfrm>
          <a:prstGeom prst="rect">
            <a:avLst/>
          </a:prstGeom>
          <a:noFill/>
        </p:spPr>
        <p:txBody>
          <a:bodyPr wrap="square" rtlCol="0">
            <a:spAutoFit/>
          </a:bodyPr>
          <a:lstStyle/>
          <a:p>
            <a:r>
              <a:rPr lang="en-IN" sz="3600" b="1" dirty="0">
                <a:solidFill>
                  <a:srgbClr val="FFC000"/>
                </a:solidFill>
              </a:rPr>
              <a:t>MongoDB Atlas &amp; Hybrid Search</a:t>
            </a:r>
            <a:r>
              <a:rPr lang="en-IN" sz="2400" b="1" dirty="0">
                <a:solidFill>
                  <a:schemeClr val="bg1"/>
                </a:solidFill>
              </a:rPr>
              <a:t>:</a:t>
            </a:r>
            <a:r>
              <a:rPr lang="en-IN" sz="2400" dirty="0">
                <a:solidFill>
                  <a:schemeClr val="bg1"/>
                </a:solidFill>
              </a:rPr>
              <a:t> MongoDB Atlas serves as our unified storage and retrieval layer, storing code chunks, Gemini-generated embedding vectors, repository metadata, file paths, and line ranges. </a:t>
            </a:r>
            <a:r>
              <a:rPr lang="en-IN" sz="2400" b="1" dirty="0">
                <a:solidFill>
                  <a:schemeClr val="bg1"/>
                </a:solidFill>
              </a:rPr>
              <a:t>MongoDB Atlas Vector Search</a:t>
            </a:r>
            <a:r>
              <a:rPr lang="en-IN" sz="2400" dirty="0">
                <a:solidFill>
                  <a:schemeClr val="bg1"/>
                </a:solidFill>
              </a:rPr>
              <a:t> enables semantic retrieval by comparing query embeddings with stored code embeddings, while </a:t>
            </a:r>
            <a:r>
              <a:rPr lang="en-IN" sz="2400" b="1" dirty="0">
                <a:solidFill>
                  <a:schemeClr val="bg1"/>
                </a:solidFill>
              </a:rPr>
              <a:t>Atlas Search</a:t>
            </a:r>
            <a:r>
              <a:rPr lang="en-IN" sz="2400" dirty="0">
                <a:solidFill>
                  <a:schemeClr val="bg1"/>
                </a:solidFill>
              </a:rPr>
              <a:t> supports lexical keyword matching for exact identifiers, function names, and symbols. We combine both retrieval methods using </a:t>
            </a:r>
            <a:r>
              <a:rPr lang="en-IN" sz="2400" b="1" dirty="0">
                <a:solidFill>
                  <a:schemeClr val="bg1"/>
                </a:solidFill>
              </a:rPr>
              <a:t>Reciprocal Rank Fusion (RRF)</a:t>
            </a:r>
            <a:r>
              <a:rPr lang="en-IN" sz="2400" dirty="0">
                <a:solidFill>
                  <a:schemeClr val="bg1"/>
                </a:solidFill>
              </a:rPr>
              <a:t> to improve relevant evidence retrieval across multiple files. Repository metadata helps scope retrieval, while source paths and line ranges support traceable citations. The retrieved evidence is passed to Gemini to generate grounded answers, making MongoDB Atlas central to our cross-file code understanding and evidence-based RAG architecture.</a:t>
            </a:r>
          </a:p>
          <a:p>
            <a:endParaRPr lang="en-IN" sz="2400" dirty="0">
              <a:solidFill>
                <a:schemeClr val="bg1"/>
              </a:solidFill>
            </a:endParaRPr>
          </a:p>
        </p:txBody>
      </p:sp>
      <p:pic>
        <p:nvPicPr>
          <p:cNvPr id="32" name="Picture 31">
            <a:extLst>
              <a:ext uri="{FF2B5EF4-FFF2-40B4-BE49-F238E27FC236}">
                <a16:creationId xmlns:a16="http://schemas.microsoft.com/office/drawing/2014/main" id="{0E3BD848-9B73-D561-59B0-FF0DB75EB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325" y="1053846"/>
            <a:ext cx="11515050" cy="56675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Freeform 2"/>
          <p:cNvSpPr/>
          <p:nvPr/>
        </p:nvSpPr>
        <p:spPr>
          <a:xfrm>
            <a:off x="1600200" y="1699430"/>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2"/>
            <a:stretch>
              <a:fillRect/>
            </a:stretch>
          </a:blipFill>
        </p:spPr>
      </p:sp>
      <p:sp>
        <p:nvSpPr>
          <p:cNvPr id="3" name="TextBox 3"/>
          <p:cNvSpPr txBox="1"/>
          <p:nvPr/>
        </p:nvSpPr>
        <p:spPr>
          <a:xfrm>
            <a:off x="3743535" y="334581"/>
            <a:ext cx="11906250" cy="694119"/>
          </a:xfrm>
          <a:prstGeom prst="rect">
            <a:avLst/>
          </a:prstGeom>
        </p:spPr>
        <p:txBody>
          <a:bodyPr lIns="0" tIns="0" rIns="0" bIns="0" rtlCol="0" anchor="t">
            <a:spAutoFit/>
          </a:bodyPr>
          <a:lstStyle/>
          <a:p>
            <a:pPr algn="l">
              <a:lnSpc>
                <a:spcPts val="4524"/>
              </a:lnSpc>
            </a:pPr>
            <a:r>
              <a:rPr lang="en-US" sz="4350" b="1">
                <a:solidFill>
                  <a:srgbClr val="F5F8FF"/>
                </a:solidFill>
                <a:latin typeface="Akzidenz-Grotesk Bold"/>
                <a:ea typeface="Akzidenz-Grotesk Bold"/>
                <a:cs typeface="Akzidenz-Grotesk Bold"/>
                <a:sym typeface="Akzidenz-Grotesk Bold"/>
              </a:rPr>
              <a:t>HOW DO WE MEASURE RAG QUALITY?</a:t>
            </a:r>
          </a:p>
        </p:txBody>
      </p:sp>
      <p:sp>
        <p:nvSpPr>
          <p:cNvPr id="4" name="TextBox 4"/>
          <p:cNvSpPr txBox="1"/>
          <p:nvPr/>
        </p:nvSpPr>
        <p:spPr>
          <a:xfrm>
            <a:off x="3429000" y="1247860"/>
            <a:ext cx="11430000" cy="232410"/>
          </a:xfrm>
          <a:prstGeom prst="rect">
            <a:avLst/>
          </a:prstGeom>
        </p:spPr>
        <p:txBody>
          <a:bodyPr lIns="0" tIns="0" rIns="0" bIns="0" rtlCol="0" anchor="t">
            <a:spAutoFit/>
          </a:bodyPr>
          <a:lstStyle/>
          <a:p>
            <a:pPr algn="l">
              <a:lnSpc>
                <a:spcPts val="1889"/>
              </a:lnSpc>
            </a:pPr>
            <a:r>
              <a:rPr lang="en-US" sz="1350" b="1" spc="108">
                <a:solidFill>
                  <a:srgbClr val="39D98A"/>
                </a:solidFill>
                <a:latin typeface="IBM Plex Mono Bold"/>
                <a:ea typeface="IBM Plex Mono Bold"/>
                <a:cs typeface="IBM Plex Mono Bold"/>
                <a:sym typeface="IBM Plex Mono Bold"/>
              </a:rPr>
              <a:t>20 TOTAL QUESTIONS   •   20 PASSED   •   11 EVALUATION CATEGORIES</a:t>
            </a:r>
          </a:p>
        </p:txBody>
      </p:sp>
      <p:sp>
        <p:nvSpPr>
          <p:cNvPr id="5" name="TextBox 5"/>
          <p:cNvSpPr txBox="1"/>
          <p:nvPr/>
        </p:nvSpPr>
        <p:spPr>
          <a:xfrm>
            <a:off x="952500" y="8782050"/>
            <a:ext cx="16383000" cy="477679"/>
          </a:xfrm>
          <a:prstGeom prst="rect">
            <a:avLst/>
          </a:prstGeom>
        </p:spPr>
        <p:txBody>
          <a:bodyPr lIns="0" tIns="0" rIns="0" bIns="0" rtlCol="0" anchor="t">
            <a:spAutoFit/>
          </a:bodyPr>
          <a:lstStyle/>
          <a:p>
            <a:pPr algn="ctr">
              <a:lnSpc>
                <a:spcPts val="1923"/>
              </a:lnSpc>
            </a:pPr>
            <a:r>
              <a:rPr lang="en-US" sz="1425">
                <a:solidFill>
                  <a:srgbClr val="9EB0C9"/>
                </a:solidFill>
                <a:latin typeface="IBM Plex Mono"/>
                <a:ea typeface="IBM Plex Mono"/>
                <a:cs typeface="IBM Plex Mono"/>
                <a:sym typeface="IBM Plex Mono"/>
              </a:rPr>
              <a:t>single-file  •  cross-file  •  frontend–backend–database  •  architecture  •  ambiguous  •  missing-file  •  unanswerable  •  multi-file reasoning  •  edge cases  •  incorrect assumptions  •  incomplete</a:t>
            </a:r>
          </a:p>
        </p:txBody>
      </p:sp>
      <p:sp>
        <p:nvSpPr>
          <p:cNvPr id="7" name="TextBox 6">
            <a:extLst>
              <a:ext uri="{FF2B5EF4-FFF2-40B4-BE49-F238E27FC236}">
                <a16:creationId xmlns:a16="http://schemas.microsoft.com/office/drawing/2014/main" id="{1D5BD6FA-6AD7-5EC9-30B1-7E0A306341AE}"/>
              </a:ext>
            </a:extLst>
          </p:cNvPr>
          <p:cNvSpPr txBox="1"/>
          <p:nvPr/>
        </p:nvSpPr>
        <p:spPr>
          <a:xfrm>
            <a:off x="12192000" y="2361341"/>
            <a:ext cx="5714999" cy="5047536"/>
          </a:xfrm>
          <a:prstGeom prst="rect">
            <a:avLst/>
          </a:prstGeom>
          <a:noFill/>
        </p:spPr>
        <p:txBody>
          <a:bodyPr wrap="square" rtlCol="0">
            <a:spAutoFit/>
          </a:bodyPr>
          <a:lstStyle/>
          <a:p>
            <a:r>
              <a:rPr lang="en-IN" sz="3200" b="1" u="sng" dirty="0">
                <a:solidFill>
                  <a:srgbClr val="FFC000"/>
                </a:solidFill>
              </a:rPr>
              <a:t>RAG Pipeline Optimization &amp; Metric Improvements</a:t>
            </a:r>
          </a:p>
          <a:p>
            <a:pPr lvl="0"/>
            <a:r>
              <a:rPr lang="en-IN" sz="2000" b="1" dirty="0">
                <a:solidFill>
                  <a:schemeClr val="bg1"/>
                </a:solidFill>
              </a:rPr>
              <a:t>Retrieval:</a:t>
            </a:r>
            <a:r>
              <a:rPr lang="en-IN" sz="2000" dirty="0">
                <a:solidFill>
                  <a:schemeClr val="bg1"/>
                </a:solidFill>
              </a:rPr>
              <a:t> Increased chunk limit from 10 to 15 (+50%), capped chunks per file at 2 for cross-file diversity, and expanded keyword extraction from 12 to 16 identifiers.</a:t>
            </a:r>
          </a:p>
          <a:p>
            <a:pPr lvl="0"/>
            <a:r>
              <a:rPr lang="en-IN" sz="2000" b="1" dirty="0">
                <a:solidFill>
                  <a:schemeClr val="bg1"/>
                </a:solidFill>
              </a:rPr>
              <a:t>Generation:</a:t>
            </a:r>
            <a:r>
              <a:rPr lang="en-IN" sz="2000" dirty="0">
                <a:solidFill>
                  <a:schemeClr val="bg1"/>
                </a:solidFill>
              </a:rPr>
              <a:t> Set temperature to 0.0 for deterministic grounding, enforced schema-completeness directives, and added anti-extrapolation guardrails against unsupported SDK assumptions.</a:t>
            </a:r>
          </a:p>
          <a:p>
            <a:pPr lvl="0"/>
            <a:r>
              <a:rPr lang="en-IN" sz="2000" b="1" dirty="0">
                <a:solidFill>
                  <a:schemeClr val="bg1"/>
                </a:solidFill>
              </a:rPr>
              <a:t>Results:</a:t>
            </a:r>
            <a:r>
              <a:rPr lang="en-IN" sz="2000" dirty="0">
                <a:solidFill>
                  <a:schemeClr val="bg1"/>
                </a:solidFill>
              </a:rPr>
              <a:t> Improved schema correctness from 20% to 90%, achieving </a:t>
            </a:r>
            <a:r>
              <a:rPr lang="en-IN" sz="2000" b="1" dirty="0">
                <a:solidFill>
                  <a:schemeClr val="bg1"/>
                </a:solidFill>
              </a:rPr>
              <a:t>91% Context Recall, 93% Faithfulness, and 86% Answer Correctness</a:t>
            </a:r>
            <a:r>
              <a:rPr lang="en-IN" sz="2000" dirty="0">
                <a:solidFill>
                  <a:schemeClr val="bg1"/>
                </a:solidFill>
              </a:rPr>
              <a:t> across 11 edge-case categories.</a:t>
            </a:r>
          </a:p>
          <a:p>
            <a:endParaRPr lang="en-IN"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01F"/>
        </a:solidFill>
        <a:effectLst/>
      </p:bgPr>
    </p:bg>
    <p:spTree>
      <p:nvGrpSpPr>
        <p:cNvPr id="1" name=""/>
        <p:cNvGrpSpPr/>
        <p:nvPr/>
      </p:nvGrpSpPr>
      <p:grpSpPr>
        <a:xfrm>
          <a:off x="0" y="0"/>
          <a:ext cx="0" cy="0"/>
          <a:chOff x="0" y="0"/>
          <a:chExt cx="0" cy="0"/>
        </a:xfrm>
      </p:grpSpPr>
      <p:sp>
        <p:nvSpPr>
          <p:cNvPr id="2" name="TextBox 2"/>
          <p:cNvSpPr txBox="1"/>
          <p:nvPr/>
        </p:nvSpPr>
        <p:spPr>
          <a:xfrm>
            <a:off x="6289298" y="4202676"/>
            <a:ext cx="4728453" cy="940824"/>
          </a:xfrm>
          <a:prstGeom prst="rect">
            <a:avLst/>
          </a:prstGeom>
        </p:spPr>
        <p:txBody>
          <a:bodyPr lIns="0" tIns="0" rIns="0" bIns="0" rtlCol="0" anchor="t">
            <a:spAutoFit/>
          </a:bodyPr>
          <a:lstStyle/>
          <a:p>
            <a:pPr algn="ctr">
              <a:lnSpc>
                <a:spcPts val="6254"/>
              </a:lnSpc>
              <a:spcBef>
                <a:spcPct val="0"/>
              </a:spcBef>
            </a:pPr>
            <a:r>
              <a:rPr lang="en-US" sz="5956" b="1">
                <a:solidFill>
                  <a:srgbClr val="D9D9D9"/>
                </a:solidFill>
                <a:latin typeface="Akzidenz-Grotesk Bold"/>
                <a:ea typeface="Akzidenz-Grotesk Bold"/>
                <a:cs typeface="Akzidenz-Grotesk Bold"/>
                <a:sym typeface="Akzidenz-Grotesk Bold"/>
              </a:rPr>
              <a:t>THANK YOU </a:t>
            </a:r>
          </a:p>
        </p:txBody>
      </p:sp>
      <p:sp>
        <p:nvSpPr>
          <p:cNvPr id="3" name="TextBox 3"/>
          <p:cNvSpPr txBox="1"/>
          <p:nvPr/>
        </p:nvSpPr>
        <p:spPr>
          <a:xfrm>
            <a:off x="15036826" y="8146270"/>
            <a:ext cx="2165227" cy="896137"/>
          </a:xfrm>
          <a:prstGeom prst="rect">
            <a:avLst/>
          </a:prstGeom>
        </p:spPr>
        <p:txBody>
          <a:bodyPr lIns="0" tIns="0" rIns="0" bIns="0" rtlCol="0" anchor="t">
            <a:spAutoFit/>
          </a:bodyPr>
          <a:lstStyle/>
          <a:p>
            <a:pPr algn="ctr">
              <a:lnSpc>
                <a:spcPts val="3242"/>
              </a:lnSpc>
            </a:pPr>
            <a:r>
              <a:rPr lang="en-US" sz="3087" b="1">
                <a:solidFill>
                  <a:srgbClr val="D9D9D9"/>
                </a:solidFill>
                <a:latin typeface="Akzidenz-Grotesk Bold"/>
                <a:ea typeface="Akzidenz-Grotesk Bold"/>
                <a:cs typeface="Akzidenz-Grotesk Bold"/>
                <a:sym typeface="Akzidenz-Grotesk Bold"/>
              </a:rPr>
              <a:t>TEAM NO:1</a:t>
            </a:r>
          </a:p>
          <a:p>
            <a:pPr algn="ctr">
              <a:lnSpc>
                <a:spcPts val="3242"/>
              </a:lnSpc>
              <a:spcBef>
                <a:spcPct val="0"/>
              </a:spcBef>
            </a:pPr>
            <a:r>
              <a:rPr lang="en-US" sz="3087" b="1">
                <a:solidFill>
                  <a:srgbClr val="D9D9D9"/>
                </a:solidFill>
                <a:latin typeface="Akzidenz-Grotesk Bold"/>
                <a:ea typeface="Akzidenz-Grotesk Bold"/>
                <a:cs typeface="Akzidenz-Grotesk Bold"/>
                <a:sym typeface="Akzidenz-Grotesk Bold"/>
              </a:rPr>
              <a:t>ARISE</a:t>
            </a:r>
          </a:p>
        </p:txBody>
      </p:sp>
      <p:sp>
        <p:nvSpPr>
          <p:cNvPr id="4" name="AutoShape 4"/>
          <p:cNvSpPr/>
          <p:nvPr/>
        </p:nvSpPr>
        <p:spPr>
          <a:xfrm>
            <a:off x="6286500" y="3905250"/>
            <a:ext cx="5715000" cy="0"/>
          </a:xfrm>
          <a:prstGeom prst="line">
            <a:avLst/>
          </a:prstGeom>
          <a:ln w="28575" cap="flat">
            <a:solidFill>
              <a:srgbClr val="9B6CFF">
                <a:alpha val="74902"/>
              </a:srgbClr>
            </a:solidFill>
            <a:prstDash val="solid"/>
            <a:headEnd type="none" w="sm" len="sm"/>
            <a:tailEnd type="none" w="sm" len="sm"/>
          </a:ln>
        </p:spPr>
      </p:sp>
      <p:sp>
        <p:nvSpPr>
          <p:cNvPr id="5" name="AutoShape 5"/>
          <p:cNvSpPr/>
          <p:nvPr/>
        </p:nvSpPr>
        <p:spPr>
          <a:xfrm>
            <a:off x="7429500" y="5095875"/>
            <a:ext cx="3429000" cy="0"/>
          </a:xfrm>
          <a:prstGeom prst="line">
            <a:avLst/>
          </a:prstGeom>
          <a:ln w="19050" cap="flat">
            <a:solidFill>
              <a:srgbClr val="20D8EE">
                <a:alpha val="64706"/>
              </a:srgbClr>
            </a:solidFill>
            <a:prstDash val="solid"/>
            <a:headEnd type="none" w="sm" len="sm"/>
            <a:tailEnd type="none" w="sm" len="sm"/>
          </a:ln>
        </p:spPr>
      </p:sp>
      <p:grpSp>
        <p:nvGrpSpPr>
          <p:cNvPr id="6" name="Group 6"/>
          <p:cNvGrpSpPr/>
          <p:nvPr/>
        </p:nvGrpSpPr>
        <p:grpSpPr>
          <a:xfrm>
            <a:off x="5905500" y="3429000"/>
            <a:ext cx="133350" cy="133350"/>
            <a:chOff x="0" y="0"/>
            <a:chExt cx="177800" cy="177800"/>
          </a:xfrm>
        </p:grpSpPr>
        <p:sp>
          <p:nvSpPr>
            <p:cNvPr id="7" name="Freeform 7"/>
            <p:cNvSpPr/>
            <p:nvPr/>
          </p:nvSpPr>
          <p:spPr>
            <a:xfrm>
              <a:off x="0" y="0"/>
              <a:ext cx="177800" cy="177800"/>
            </a:xfrm>
            <a:custGeom>
              <a:avLst/>
              <a:gdLst/>
              <a:ahLst/>
              <a:cxnLst/>
              <a:rect l="l" t="t" r="r" b="b"/>
              <a:pathLst>
                <a:path w="177800" h="177800">
                  <a:moveTo>
                    <a:pt x="88900" y="0"/>
                  </a:moveTo>
                  <a:lnTo>
                    <a:pt x="88900" y="0"/>
                  </a:lnTo>
                  <a:cubicBezTo>
                    <a:pt x="137998" y="0"/>
                    <a:pt x="177800" y="39802"/>
                    <a:pt x="177800" y="88900"/>
                  </a:cubicBezTo>
                  <a:lnTo>
                    <a:pt x="177800" y="88900"/>
                  </a:lnTo>
                  <a:cubicBezTo>
                    <a:pt x="177800" y="137998"/>
                    <a:pt x="137998" y="177800"/>
                    <a:pt x="88900" y="177800"/>
                  </a:cubicBezTo>
                  <a:lnTo>
                    <a:pt x="88900" y="177800"/>
                  </a:lnTo>
                  <a:cubicBezTo>
                    <a:pt x="39802" y="177800"/>
                    <a:pt x="0" y="137998"/>
                    <a:pt x="0" y="88900"/>
                  </a:cubicBezTo>
                  <a:lnTo>
                    <a:pt x="0" y="88900"/>
                  </a:lnTo>
                  <a:cubicBezTo>
                    <a:pt x="0" y="39802"/>
                    <a:pt x="39802" y="0"/>
                    <a:pt x="88900" y="0"/>
                  </a:cubicBezTo>
                  <a:close/>
                </a:path>
              </a:pathLst>
            </a:custGeom>
            <a:solidFill>
              <a:srgbClr val="20D8EE"/>
            </a:solidFill>
          </p:spPr>
        </p:sp>
        <p:sp>
          <p:nvSpPr>
            <p:cNvPr id="8" name="TextBox 8"/>
            <p:cNvSpPr txBox="1"/>
            <p:nvPr/>
          </p:nvSpPr>
          <p:spPr>
            <a:xfrm>
              <a:off x="0" y="-38100"/>
              <a:ext cx="177800" cy="2159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2249150" y="3429000"/>
            <a:ext cx="133350" cy="133350"/>
            <a:chOff x="0" y="0"/>
            <a:chExt cx="177800" cy="177800"/>
          </a:xfrm>
        </p:grpSpPr>
        <p:sp>
          <p:nvSpPr>
            <p:cNvPr id="10" name="Freeform 10"/>
            <p:cNvSpPr/>
            <p:nvPr/>
          </p:nvSpPr>
          <p:spPr>
            <a:xfrm>
              <a:off x="0" y="0"/>
              <a:ext cx="177800" cy="177800"/>
            </a:xfrm>
            <a:custGeom>
              <a:avLst/>
              <a:gdLst/>
              <a:ahLst/>
              <a:cxnLst/>
              <a:rect l="l" t="t" r="r" b="b"/>
              <a:pathLst>
                <a:path w="177800" h="177800">
                  <a:moveTo>
                    <a:pt x="88900" y="0"/>
                  </a:moveTo>
                  <a:lnTo>
                    <a:pt x="88900" y="0"/>
                  </a:lnTo>
                  <a:cubicBezTo>
                    <a:pt x="137998" y="0"/>
                    <a:pt x="177800" y="39802"/>
                    <a:pt x="177800" y="88900"/>
                  </a:cubicBezTo>
                  <a:lnTo>
                    <a:pt x="177800" y="88900"/>
                  </a:lnTo>
                  <a:cubicBezTo>
                    <a:pt x="177800" y="137998"/>
                    <a:pt x="137998" y="177800"/>
                    <a:pt x="88900" y="177800"/>
                  </a:cubicBezTo>
                  <a:lnTo>
                    <a:pt x="88900" y="177800"/>
                  </a:lnTo>
                  <a:cubicBezTo>
                    <a:pt x="39802" y="177800"/>
                    <a:pt x="0" y="137998"/>
                    <a:pt x="0" y="88900"/>
                  </a:cubicBezTo>
                  <a:lnTo>
                    <a:pt x="0" y="88900"/>
                  </a:lnTo>
                  <a:cubicBezTo>
                    <a:pt x="0" y="39802"/>
                    <a:pt x="39802" y="0"/>
                    <a:pt x="88900" y="0"/>
                  </a:cubicBezTo>
                  <a:close/>
                </a:path>
              </a:pathLst>
            </a:custGeom>
            <a:solidFill>
              <a:srgbClr val="9B6CFF"/>
            </a:solidFill>
          </p:spPr>
        </p:sp>
        <p:sp>
          <p:nvSpPr>
            <p:cNvPr id="11" name="TextBox 11"/>
            <p:cNvSpPr txBox="1"/>
            <p:nvPr/>
          </p:nvSpPr>
          <p:spPr>
            <a:xfrm>
              <a:off x="0" y="-38100"/>
              <a:ext cx="177800" cy="215900"/>
            </a:xfrm>
            <a:prstGeom prst="rect">
              <a:avLst/>
            </a:prstGeom>
          </p:spPr>
          <p:txBody>
            <a:bodyPr lIns="50800" tIns="50800" rIns="50800" bIns="50800" rtlCol="0" anchor="ctr"/>
            <a:lstStyle/>
            <a:p>
              <a:pPr algn="l">
                <a:lnSpc>
                  <a:spcPts val="167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732</Words>
  <Application>Microsoft Office PowerPoint</Application>
  <PresentationFormat>Custom</PresentationFormat>
  <Paragraphs>88</Paragraphs>
  <Slides>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Akzidenz-Grotesk Bold</vt:lpstr>
      <vt:lpstr>Calibri</vt:lpstr>
      <vt:lpstr>Akzidenz-Grotesk</vt:lpstr>
      <vt:lpstr>IBM Plex Mono Bold</vt:lpstr>
      <vt:lpstr>IBM Plex Mono</vt:lpstr>
      <vt:lpstr>Open Sans</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 Investigator Pitch</dc:title>
  <dc:creator>Muntha Venkata Akash</dc:creator>
  <cp:lastModifiedBy>VENKATA AKASH MUNTHA</cp:lastModifiedBy>
  <cp:revision>3</cp:revision>
  <dcterms:created xsi:type="dcterms:W3CDTF">2006-08-16T00:00:00Z</dcterms:created>
  <dcterms:modified xsi:type="dcterms:W3CDTF">2026-10-25T09:45:35Z</dcterms:modified>
  <dc:identifier>DAHY9TtyWcM</dc:identifier>
</cp:coreProperties>
</file>